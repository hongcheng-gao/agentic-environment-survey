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Agentic 环境构造与环境模拟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2FF"/>
                </a:solidFill>
                <a:latin typeface="Microsoft YaHei"/>
              </a:defRPr>
            </a:pPr>
            <a:r>
              <a:t>Agentic Environment Construction &amp;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2000" b="0">
                <a:solidFill>
                  <a:srgbClr val="A0AEC0"/>
                </a:solidFill>
                <a:latin typeface="Microsoft YaHei"/>
              </a:defRPr>
            </a:pPr>
            <a:r>
              <a:t>从合成环境到大规模Agent训练的前沿研究综述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A0AEC0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00D2FF"/>
                </a:solidFill>
                <a:latin typeface="Microsoft YaHei"/>
              </a:defRPr>
            </a:pPr>
            <a:r>
              <a:t>核心覆盖: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A0AEC0"/>
                </a:solidFill>
                <a:latin typeface="Microsoft YaHei"/>
              </a:defRPr>
            </a:pPr>
            <a:r>
              <a:t>• Agent World Model (AWM) — Snowflake / ICML 2026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A0AEC0"/>
                </a:solidFill>
                <a:latin typeface="Microsoft YaHei"/>
              </a:defRPr>
            </a:pPr>
            <a:r>
              <a:t>• Synthetic Computers at Scale — 长时序生产力模拟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A0AEC0"/>
                </a:solidFill>
                <a:latin typeface="Microsoft YaHei"/>
              </a:defRPr>
            </a:pPr>
            <a:r>
              <a:t>• Neural Computers — 神经计算机新范式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A0AEC0"/>
                </a:solidFill>
                <a:latin typeface="Microsoft YaHei"/>
              </a:defRPr>
            </a:pPr>
            <a:r>
              <a:t>• Simia — LLM作为环境模拟器 (Microsoft)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A0AEC0"/>
                </a:solidFill>
                <a:latin typeface="Microsoft YaHei"/>
              </a:defRPr>
            </a:pPr>
            <a:r>
              <a:t>• AgentGym / GEM / MLGym — Gym标准化框架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目录 Outline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3258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背景与动机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600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Background &amp; 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33172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核心问题：为什么需要环境构造？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Why Environment Construction?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代表性工作全景图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11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Landscape of Representative Works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3434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Agent World Model (AWM)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Snowflake / ICML 2026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3492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Synthetic Computers at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Long-Horizon Productivity Simulation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13258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Neural Computers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1600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A New Computing Paradigm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23317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Simia — LLM as Env 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Microsoft Research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33375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Gym系列框架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611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AgentGym / GEM / MLGym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43434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技术路线对比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Technical Approach Comparison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0" y="53492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未来展望与总结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Future Outlook &amp;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01  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Microsoft YaHei"/>
              </a:defRPr>
            </a:pPr>
            <a:r>
              <a:t>Agent训练面临的核心瓶颈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02920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109728" cy="868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2FF"/>
                </a:solidFill>
                <a:latin typeface="Microsoft YaHei"/>
              </a:defRPr>
            </a:pPr>
            <a:r>
              <a:t>环境稀缺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真实环境构建成本高、覆盖度低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502920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109728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C3AED"/>
                </a:solidFill>
                <a:latin typeface="Microsoft YaHei"/>
              </a:defRPr>
            </a:pPr>
            <a:r>
              <a:t>交互有限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静态数据集无法提供多轮交互反馈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502920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109728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0B981"/>
                </a:solidFill>
                <a:latin typeface="Microsoft YaHei"/>
              </a:defRPr>
            </a:pPr>
            <a:r>
              <a:t>多样性不足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手动构建的环境难以覆盖真实世界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39"/>
            <a:ext cx="502920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92039"/>
            <a:ext cx="109728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9834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Microsoft YaHei"/>
              </a:defRPr>
            </a:pPr>
            <a:r>
              <a:t>可扩展性差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3492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传统benchmark数量有限、难以规模化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Microsoft YaHei"/>
              </a:defRPr>
            </a:pPr>
            <a:r>
              <a:t>范式转变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828800"/>
            <a:ext cx="5029200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Microsoft YaHei"/>
              </a:defRPr>
            </a:pPr>
            <a:r>
              <a:t>Static Dataset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9659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2FF"/>
                </a:solidFill>
                <a:latin typeface="Microsoft YaHei"/>
              </a:defRPr>
            </a:pPr>
            <a:r>
              <a:t> 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65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Interactive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423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从静态到交互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200400"/>
            <a:ext cx="5029200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3337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Microsoft YaHei"/>
              </a:defRPr>
            </a:pPr>
            <a:r>
              <a:t>Human-crafted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3375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2FF"/>
                </a:solidFill>
                <a:latin typeface="Microsoft YaHei"/>
              </a:defRPr>
            </a:pPr>
            <a:r>
              <a:t> 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Synthetically Generated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从人工到自动合成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572000"/>
            <a:ext cx="5029200" cy="11887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Microsoft YaHei"/>
              </a:defRPr>
            </a:pPr>
            <a:r>
              <a:t>Single-turn 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7091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2FF"/>
                </a:solidFill>
                <a:latin typeface="Microsoft YaHei"/>
              </a:defRPr>
            </a:pPr>
            <a:r>
              <a:t> 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Microsoft YaHei"/>
              </a:defRPr>
            </a:pPr>
            <a:r>
              <a:t>Multi-turn RL Training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166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从评估到训练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02  核心问题：为什么需要环境构造？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029200" cy="18288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传统路径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人工定义环境 → Agent交互 → 评估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❌ 成本高、数量少、覆盖不足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5029200" cy="18288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新范式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033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自动合成环境 → 大规模Agent RL训练 → 持续进化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10B981"/>
                </a:solidFill>
                <a:latin typeface="Microsoft YaHei"/>
              </a:defRPr>
            </a:pPr>
            <a:r>
              <a:t>✓ 可扩展、多样、可验证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Microsoft YaHei"/>
              </a:defRPr>
            </a:pPr>
            <a:r>
              <a:t>四大关键挑战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828800"/>
            <a:ext cx="502920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202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如何自动化生成可执行的环境？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Executable Environment Generation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26080"/>
            <a:ext cx="502920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75120" y="31089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0175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如何保证环境的真实性与多样性？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Realism &amp; Diversity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023360"/>
            <a:ext cx="502920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0" y="42062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1148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如何设计可验证的奖励信号？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526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Verifiable Reward Signals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5120639"/>
            <a:ext cx="502920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75120" y="530351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212079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如何规模化到数千/数百万环境？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62355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Scaling to Millions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03  代表性工作全景图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383280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38328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  <a:latin typeface="Microsoft YaHei"/>
              </a:defRPr>
            </a:pPr>
            <a:r>
              <a:t>Code-Driven 合成环境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3383280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AWM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2FF"/>
                </a:solidFill>
                <a:latin typeface="Microsoft YaHei"/>
              </a:defRPr>
            </a:pPr>
            <a:r>
              <a:t>Snowflake, ICML'26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1000个SQL+MCP环境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3383280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Synthetic Computers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2FF"/>
                </a:solidFill>
                <a:latin typeface="Microsoft YaHei"/>
              </a:defRPr>
            </a:pPr>
            <a:r>
              <a:t>arXiv 2604.28181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43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合成计算机+长时序模拟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59" y="1188720"/>
            <a:ext cx="3383280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59" y="1188720"/>
            <a:ext cx="3383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39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LLM-as-Simulator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103120"/>
            <a:ext cx="3383280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39" y="21945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Simia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39" y="25603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C3AED"/>
                </a:solidFill>
                <a:latin typeface="Microsoft YaHei"/>
              </a:defRPr>
            </a:pPr>
            <a:r>
              <a:t>Microsoft,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39" y="2880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LLM直接模拟环境反馈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3566160"/>
            <a:ext cx="3383280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39" y="3657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AgentGym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4023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C3AED"/>
                </a:solidFill>
                <a:latin typeface="Microsoft YaHei"/>
              </a:defRPr>
            </a:pPr>
            <a:r>
              <a:t>ACL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39" y="4343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统一框架+RL训练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599" y="1188720"/>
            <a:ext cx="3383280" cy="6400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599" y="118872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9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Neural Simulation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599" y="2103120"/>
            <a:ext cx="3383280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9" y="21945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Neural Computers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9" y="25603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Microsoft YaHei"/>
              </a:defRPr>
            </a:pPr>
            <a:r>
              <a:t>arXiv 2604.06425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9" y="28803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视频模型模拟计算机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599" y="3566160"/>
            <a:ext cx="3383280" cy="12801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9" y="3657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World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4023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Microsoft YaHei"/>
              </a:defRPr>
            </a:pPr>
            <a:r>
              <a:t>Survey 2025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9" y="4343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神经状态预测+规划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120640"/>
            <a:ext cx="10789920" cy="10972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5120640"/>
            <a:ext cx="107899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9E0B"/>
                </a:solidFill>
                <a:latin typeface="Microsoft YaHei"/>
              </a:defRPr>
            </a:pPr>
            <a:r>
              <a:t>Gym-like 标准化框架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23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GEM (24 envs, 5 RL algos)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5623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AgentGym (14 envs, 89 tasks)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5623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MLGym (13 AI research tasks)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04  Agent World Model (AWM)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029200" cy="14630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1887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00D2FF"/>
                </a:solidFill>
                <a:latin typeface="Microsoft YaHei"/>
              </a:defRPr>
            </a:pPr>
            <a:r>
              <a:t>基本信息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Snowflake AI Research + UNC-Chapel Hill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arXiv:2602.10090  |  ICML 2026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GitHub Stars: 345+  |  已合并入 meta-pytorch/OpenEnv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5029200" cy="2011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109728" cy="2011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346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00D2FF"/>
                </a:solidFill>
                <a:latin typeface="Microsoft YaHei"/>
              </a:defRPr>
            </a:pPr>
            <a:r>
              <a:t>核心思想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用LLM合成Pipeline自动生成可执行的、基于SQL数据库的tool-use环境，通过MCP接口暴露，用于大规模多轮Agentic RL训练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Microsoft YaHei"/>
              </a:defRPr>
            </a:pPr>
            <a:r>
              <a:t>关键数据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45920"/>
            <a:ext cx="502920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Microsoft YaHei"/>
              </a:defRPr>
            </a:pPr>
            <a:r>
              <a:t>1,000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合成环境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606040"/>
            <a:ext cx="502920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6974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7C3AED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Tasks / 环境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566160"/>
            <a:ext cx="502920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657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749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模型尺寸 (4B/8B/14B)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526280"/>
            <a:ext cx="502920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6177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  <a:latin typeface="Microsoft YaHei"/>
              </a:defRPr>
            </a:pPr>
            <a:r>
              <a:t>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统一接口协议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029200"/>
            <a:ext cx="10789920" cy="13716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20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2FF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486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Code-driven状态转换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06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避免LLM幻觉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486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MCP统一接口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06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标准化tool调用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486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线性扩展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806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10→526环境性能持续↑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486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双重验证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5806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SQL Judge + Code Judge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04  AWM — 五步合成Pipeline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01168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1371600"/>
            <a:ext cx="548640" cy="54864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Emoj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Scenario</a:t>
            </a:r>
            <a:br/>
            <a:r>
              <a:t>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从种子集生成</a:t>
            </a:r>
            <a:br/>
            <a:r>
              <a:t>1000个独特场景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188720"/>
            <a:ext cx="201168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188720"/>
            <a:ext cx="20116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74720" y="137160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Emoj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Task</a:t>
            </a:r>
            <a:br/>
            <a:r>
              <a:t>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743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每场景10个任务</a:t>
            </a:r>
            <a:br/>
            <a:r>
              <a:t>作为环境需求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1188720"/>
            <a:ext cx="201168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1188720"/>
            <a:ext cx="20116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06440" y="137160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Emoj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Database</a:t>
            </a:r>
            <a:br/>
            <a:r>
              <a:t>Synthesis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743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Schema定义+</a:t>
            </a:r>
            <a:br/>
            <a:r>
              <a:t>初始数据填充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59" y="1188720"/>
            <a:ext cx="201168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52359" y="1188720"/>
            <a:ext cx="20116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38159" y="137160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Emoj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799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Interface</a:t>
            </a:r>
            <a:br/>
            <a:r>
              <a:t>Synthesis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799" y="2743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API Spec →</a:t>
            </a:r>
            <a:br/>
            <a:r>
              <a:t>MCP环境代码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39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1188720"/>
            <a:ext cx="201168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0" y="1188720"/>
            <a:ext cx="201168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469880" y="137160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Segoe UI Emoj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Verification</a:t>
            </a:r>
            <a:br/>
            <a:r>
              <a:t>Synthesis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743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SQL Judge /</a:t>
            </a:r>
            <a:br/>
            <a:r>
              <a:t>Code Judge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114800"/>
            <a:ext cx="10789920" cy="2286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206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2FF"/>
                </a:solidFill>
                <a:latin typeface="Microsoft YaHei"/>
              </a:defRPr>
            </a:pPr>
            <a:r>
              <a:t>运行时架构 (Runtime Architecture)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7280" y="4754880"/>
            <a:ext cx="1645920" cy="100584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7C3AED"/>
                </a:solidFill>
                <a:latin typeface="Microsoft YaHei"/>
              </a:defRPr>
            </a:pPr>
            <a:r>
              <a:t>Agent</a:t>
            </a:r>
            <a:br/>
            <a:r>
              <a:t>(LLM)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←→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754880"/>
            <a:ext cx="1645920" cy="100584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D2FF"/>
                </a:solidFill>
                <a:latin typeface="Microsoft YaHei"/>
              </a:defRPr>
            </a:pPr>
            <a:r>
              <a:t>MCP</a:t>
            </a:r>
            <a:br/>
            <a:r>
              <a:t>Protocol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←→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0" y="4754880"/>
            <a:ext cx="1645920" cy="100584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  <a:latin typeface="Microsoft YaHei"/>
              </a:defRPr>
            </a:pPr>
            <a:r>
              <a:t>Environment</a:t>
            </a:r>
            <a:br/>
            <a:r>
              <a:t>Server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←→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59" y="4754880"/>
            <a:ext cx="1645920" cy="100584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  <a:latin typeface="Microsoft YaHei"/>
              </a:defRPr>
            </a:pPr>
            <a:r>
              <a:t>SQLite</a:t>
            </a:r>
            <a:br/>
            <a:r>
              <a:t>Database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79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←→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75520" y="4754880"/>
            <a:ext cx="1645920" cy="100584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Microsoft YaHei"/>
              </a:defRPr>
            </a:pPr>
            <a:r>
              <a:t>Verifier</a:t>
            </a:r>
            <a:br/>
            <a:r>
              <a:t>(Reward)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05  Synthetic Computers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Long-Horizon Productivity Simulation  |  arXiv:2604.28181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89920" cy="10972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109728" cy="10972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700" b="1">
                <a:solidFill>
                  <a:srgbClr val="00D2FF"/>
                </a:solidFill>
                <a:latin typeface="Microsoft YaHei"/>
              </a:defRPr>
            </a:pPr>
            <a:r>
              <a:t>核心思想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创建大规模合成计算机环境（含完整文件系统和内容丰富的文档），通过双Agent模拟长时序用户生产力工作，产生丰富的经验学习信号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2514600" cy="18288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251460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D2FF"/>
                </a:solidFill>
                <a:latin typeface="Microsoft YaHei"/>
              </a:defRPr>
            </a:pPr>
            <a:r>
              <a:t>合成计算机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逼真的文件夹层级</a:t>
            </a:r>
            <a:br/>
            <a:r>
              <a:t>+ docx/xlsx/pptx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39" y="2651760"/>
            <a:ext cx="2514600" cy="18288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2651760"/>
            <a:ext cx="25146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19" y="2834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7C3AED"/>
                </a:solidFill>
                <a:latin typeface="Microsoft YaHei"/>
              </a:defRPr>
            </a:pPr>
            <a:r>
              <a:t>双Agent模拟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19" y="338328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Goal Agent 定目标</a:t>
            </a:r>
            <a:br/>
            <a:r>
              <a:t>Worker Agent 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2651760"/>
            <a:ext cx="2514600" cy="18288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59" y="2651760"/>
            <a:ext cx="2514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9" y="2834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Microsoft YaHei"/>
              </a:defRPr>
            </a:pPr>
            <a:r>
              <a:t>超长时序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338328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8+小时 runtime</a:t>
            </a:r>
            <a:br/>
            <a:r>
              <a:t>2000+ turns/run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2651760"/>
            <a:ext cx="2514600" cy="18288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265176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834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59E0B"/>
                </a:solidFill>
                <a:latin typeface="Microsoft YaHei"/>
              </a:defRPr>
            </a:pPr>
            <a:r>
              <a:t>十亿级扩展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38328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Personas可大规模</a:t>
            </a:r>
            <a:br/>
            <a:r>
              <a:t>生成(10^9)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754880"/>
            <a:ext cx="10789920" cy="16459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Microsoft YaHei"/>
              </a:defRPr>
            </a:pPr>
            <a:r>
              <a:t>Pipeline Flow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303520"/>
            <a:ext cx="182880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A0AEC0"/>
                </a:solidFill>
                <a:latin typeface="Microsoft YaHei"/>
              </a:defRPr>
            </a:pPr>
            <a:r>
              <a:t>Persona Generation</a:t>
            </a:r>
            <a:br/>
            <a:r>
              <a:t>(多样化角色/职业)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5532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2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17520" y="5303520"/>
            <a:ext cx="182880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A0AEC0"/>
                </a:solidFill>
                <a:latin typeface="Microsoft YaHei"/>
              </a:defRPr>
            </a:pPr>
            <a:r>
              <a:t>Computer Synthesis</a:t>
            </a:r>
            <a:br/>
            <a:r>
              <a:t>(文件系统+文档)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5532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2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80" y="5303520"/>
            <a:ext cx="182880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A0AEC0"/>
                </a:solidFill>
                <a:latin typeface="Microsoft YaHei"/>
              </a:defRPr>
            </a:pPr>
            <a:r>
              <a:t>Goal Creation</a:t>
            </a:r>
            <a:br/>
            <a:r>
              <a:t>(月级生产力目标)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532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2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5303520"/>
            <a:ext cx="182880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A0AEC0"/>
                </a:solidFill>
                <a:latin typeface="Microsoft YaHei"/>
              </a:defRPr>
            </a:pPr>
            <a:r>
              <a:t>Long-horizon Sim</a:t>
            </a:r>
            <a:br/>
            <a:r>
              <a:t>(Agent执行工作)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5532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2FF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5303520"/>
            <a:ext cx="182880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A0AEC0"/>
                </a:solidFill>
                <a:latin typeface="Microsoft YaHei"/>
              </a:defRPr>
            </a:pPr>
            <a:r>
              <a:t>Signal Extraction</a:t>
            </a:r>
            <a:br/>
            <a:r>
              <a:t>(经验学习信号)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06  Neural Computers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A New Computing Paradigm  |  arXiv:2604.06425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109728" cy="228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3716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核心思想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提出神经计算机(Neural Computers)概念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将传统计算机的计算、内存、I/O统一在一个学习到的运行时状态中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A0AEC0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0B981"/>
                </a:solidFill>
                <a:latin typeface="Microsoft YaHei"/>
              </a:defRPr>
            </a:pPr>
            <a:r>
              <a:t>方法: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NC实例化为视频模型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从指令+像素+用户动作 roll out 屏幕帧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在CLI和GUI场景中学习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840480"/>
            <a:ext cx="502920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Microsoft YaHei"/>
              </a:defRPr>
            </a:pPr>
            <a:r>
              <a:t>长期目标: Completely Neural Computer (CNC)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稳定执行 (Stable Execution)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显式重编程 (Explicit Reprogramming)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能力持久复用 (Durable Capability Reuse)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Microsoft YaHei"/>
              </a:defRPr>
            </a:pPr>
            <a:r>
              <a:t>当前进展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37360"/>
            <a:ext cx="5029200" cy="2011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Microsoft YaHei"/>
              </a:defRPr>
            </a:pPr>
            <a:r>
              <a:t>已获得能力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基础接口原语 (Elementary Interface Primitives)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I/O 对齐 (I/O Alignment)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短时序控制 (Short-horizon Control)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931920"/>
            <a:ext cx="5029200" cy="24688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Microsoft YaHei"/>
              </a:defRPr>
            </a:pPr>
            <a:r>
              <a:t>待解决挑战 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80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例程复用 (Routine Reuse)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受控更新 (Controlled Updates)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符号稳定性 (Symbolic Stability)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10972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5394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2FF"/>
                </a:solidFill>
                <a:latin typeface="Microsoft YaHei"/>
              </a:defRPr>
            </a:pPr>
            <a:r>
              <a:t>意义: 超越传统Agent → 重新定义计算范式</a:t>
            </a:r>
            <a:br/>
            <a:r>
              <a:t>从"Agent使用计算机" → "Agent就是计算机"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07  Simia — LLM作为环境模拟器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Microsoft Research  |  arXiv:2511.01824  | 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78992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核心思想: 用LLM直接作为环境模拟器，消除对手工构建环境的依赖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02920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Microsoft YaHei"/>
              </a:defRPr>
            </a:pPr>
            <a:r>
              <a:t>Simia-SFT  (监督微调)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从1.5k种子轨迹出发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LLM模拟环境反馈和工具交互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1">
                <a:solidFill>
                  <a:srgbClr val="00D2FF"/>
                </a:solidFill>
                <a:latin typeface="Microsoft YaHei"/>
              </a:defRPr>
            </a:pPr>
            <a:r>
              <a:t>• 合成90k训练轨迹 (60x扩增)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无需真实环境执行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77440"/>
            <a:ext cx="5029200" cy="2286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377440"/>
            <a:ext cx="50292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14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Simia-RL  (强化学习)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926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LLM (如GPT-5) 模拟环境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提供状态转换+工具反馈+奖励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1">
                <a:solidFill>
                  <a:srgbClr val="7C3AED"/>
                </a:solidFill>
                <a:latin typeface="Microsoft YaHei"/>
              </a:defRPr>
            </a:pPr>
            <a:r>
              <a:t>• Agent用GRPO算法训练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• 环境无关的训练方法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Microsoft YaHei"/>
              </a:defRPr>
            </a:pPr>
            <a:r>
              <a:t>关键成果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" y="5303520"/>
          <a:ext cx="107899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训练方式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tau2-Bench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OfficeBench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GPT-4o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原始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54.2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31.1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Qwen2.5-32B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Simia训练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58.9 (+4.7)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Qwen3-8B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Simia训练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44.0 (+12.9)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08  Gym系列标准化框架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383280" cy="4572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38328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  <a:latin typeface="Microsoft YaHei"/>
              </a:defRPr>
            </a:pPr>
            <a:r>
              <a:t>AgentGym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ACL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7个真实场景 / 14个环境 / 89个任务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统一框架支持评估+训练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实时反馈 + RL自我提升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多种Agent训练算法支持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188720"/>
            <a:ext cx="3383280" cy="4572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188720"/>
            <a:ext cx="3383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39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7C3AED"/>
                </a:solidFill>
                <a:latin typeface="Microsoft YaHei"/>
              </a:defRPr>
            </a:pPr>
            <a:r>
              <a:t>GEM: Gym for Agentic LLMs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1783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arXiv:2510.01051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1945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类似OpenAI Gym的LLM标准化框架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24个环境 + 异步向量化执行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兼容5种RL框架(PPO/GRPO等)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支持单轮+多轮交互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188720"/>
            <a:ext cx="3383280" cy="4572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0B981"/>
                </a:solidFill>
                <a:latin typeface="Microsoft YaHei"/>
              </a:defRPr>
            </a:pPr>
            <a:r>
              <a:t>MLGym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783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Meta, arXiv:2502.14499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1945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13个AI研究任务(CV/NLP/etc)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开放式环境设计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评估LLM的研究自动化能力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• GPT-4o/Gemini等基线评测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共同趋势: 从Static Dataset Training → Experience-based Interactive Learning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09  技术路线对比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  <a:gridCol w="2011680"/>
                <a:gridCol w="2194560"/>
              </a:tblGrid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AWM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Synthetic Comp.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Neural Comp.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Simia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 b="1">
                          <a:solidFill>
                            <a:srgbClr val="00D2FF"/>
                          </a:solidFill>
                          <a:latin typeface="Microsoft YaHei"/>
                        </a:rPr>
                        <a:t>AgentGym/GEM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环境来源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LLM合成代码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LLM合成文件系统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从I/O学习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LLM直接模拟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人工+扩展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状态表示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SQL Database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文件系统+文档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视频帧(像素)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LLM隐状态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多种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接口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MCP Tool-use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文件系统+CLI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CLI/GUI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API调用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标准化接口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可执行性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完全可执行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完全可执行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模拟执行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模拟执行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完全可执行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1000环境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1000计算机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概念验证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90k轨迹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14-24环境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时序长度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多轮(中)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超长(2000+turns)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短时序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多轮(中)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单/多轮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验证方式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Code+LLM Judge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目标完成度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视觉对齐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LLM Judge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任务完成率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训练方式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Agentic RL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经验学习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视频预训练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SFT + RL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多种RL</a:t>
                      </a:r>
                    </a:p>
                  </a:txBody>
                  <a:tcPr>
                    <a:solidFill>
                      <a:srgbClr val="131C3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幻觉风险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低(代码驱动)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低(文件实体)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低(像素级)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中(LLM模拟)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sz="1200">
                          <a:solidFill>
                            <a:srgbClr val="A0AEC0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09  关键技术趋势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383280" cy="23774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9728" cy="23774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234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Microsoft YaHei"/>
              </a:defRPr>
            </a:pPr>
            <a:r>
              <a:t>Trend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从"环境构建"到"环境合成"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人工 → 半自动 → 全自动合成Pipeline</a:t>
            </a:r>
            <a:br/>
            <a:r>
              <a:t>AWM: 5步CLI命令自动生成完整环境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097280"/>
            <a:ext cx="3383280" cy="23774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109728" cy="2377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234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Trend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15544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从"评估环境"到"训练环境"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Benchmark → Training Ground</a:t>
            </a:r>
            <a:br/>
            <a:r>
              <a:t>环境不仅用于评测，更用于持续RL训练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097280"/>
            <a:ext cx="3383280" cy="23774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097280"/>
            <a:ext cx="109728" cy="2377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234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Trend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15544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从"固定环境"到"无限环境"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10个 → 1000个 → 理论上无限</a:t>
            </a:r>
            <a:br/>
            <a:r>
              <a:t>环境多样性直接驱动Agent能力提升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840480"/>
            <a:ext cx="3383280" cy="23774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840480"/>
            <a:ext cx="109728" cy="2377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Microsoft YaHei"/>
              </a:defRPr>
            </a:pPr>
            <a:r>
              <a:t>Trend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从"短时序"到"超长时序"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8463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单轮问答 → 多轮交互 → 2000+ turns</a:t>
            </a:r>
            <a:br/>
            <a:r>
              <a:t>模拟真实工作的复杂性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59" y="3840480"/>
            <a:ext cx="3383280" cy="23774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59" y="3840480"/>
            <a:ext cx="109728" cy="2377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Trend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79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代码驱动 vs LLM模拟 互补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79" y="48463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代码驱动: 精确、可验证、无幻觉</a:t>
            </a:r>
            <a:br/>
            <a:r>
              <a:t>LLM模拟: 灵活、低成本、快速部署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10  未来展望与开放问题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Microsoft YaHei"/>
              </a:defRPr>
            </a:pPr>
            <a:r>
              <a:t>开放问题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7315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755648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91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规模化验证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116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如何在百万级环境中保证质量？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5029200" cy="7315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624328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560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Sim-to-Real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合成环境训练能否迁移到真实世界？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383280"/>
            <a:ext cx="5029200" cy="7315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3493008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429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环境复杂度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49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如何生成需要深度推理的复杂环境？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51959"/>
            <a:ext cx="5029200" cy="7315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361687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2976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安全性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61771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大规模自动合成如何避免有害内容？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20640"/>
            <a:ext cx="5029200" cy="7315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5230368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 Emoji"/>
              </a:defRPr>
            </a:pPr>
            <a: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166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计算效率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486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大规模环境生成+RL训练的成本优化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Microsoft YaHei"/>
              </a:defRPr>
            </a:pPr>
            <a:r>
              <a:t>前瞻方向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645920"/>
            <a:ext cx="502920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645920"/>
            <a:ext cx="109728" cy="914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Microsoft YaHei"/>
              </a:defRPr>
            </a:pPr>
            <a:r>
              <a:t>自适应环境生成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2103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根据Agent弱点动态生成针对性环境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743200"/>
            <a:ext cx="502920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27432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2834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Microsoft YaHei"/>
              </a:defRPr>
            </a:pPr>
            <a:r>
              <a:t>多Agent协作环境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200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模拟真实世界的团队协作场景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840480"/>
            <a:ext cx="502920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384048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Microsoft YaHei"/>
              </a:defRPr>
            </a:pPr>
            <a:r>
              <a:t>环境-Agent共进化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环境和Agent共同进化(Co-evolution)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4937759"/>
            <a:ext cx="502920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4937759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20840" y="502919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Microsoft YaHei"/>
              </a:defRPr>
            </a:pPr>
            <a:r>
              <a:t>通用世界模型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539495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Microsoft YaHei"/>
              </a:defRPr>
            </a:pPr>
            <a:r>
              <a:t>统一的物理+数字世界模拟器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总结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097280"/>
            <a:ext cx="9418320" cy="9144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097280"/>
            <a:ext cx="94183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2344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环境是Agent能力的基石 —— 没有足够丰富的环境，就没有足够强大的Agent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3383280" cy="2011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338328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D2FF"/>
                </a:solidFill>
                <a:latin typeface="Microsoft YaHei"/>
              </a:defRPr>
            </a:pPr>
            <a:r>
              <a:t>Code-Driven Synthesis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AWM, Synthetic Computers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可靠 / 可验证 / 可扩展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59" y="2377440"/>
            <a:ext cx="3383280" cy="2011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2377440"/>
            <a:ext cx="3383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2560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7C3AED"/>
                </a:solidFill>
                <a:latin typeface="Microsoft YaHei"/>
              </a:defRPr>
            </a:pPr>
            <a:r>
              <a:t>LLM-as-Simulator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39" y="3017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Simia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3566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灵活 / 低成本 / 快速迭代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377440"/>
            <a:ext cx="3383280" cy="2011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2377440"/>
            <a:ext cx="3383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560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Microsoft YaHei"/>
              </a:defRPr>
            </a:pPr>
            <a:r>
              <a:t>Neural Simulation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017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t>Neural Computers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566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EC0"/>
                </a:solidFill>
                <a:latin typeface="Microsoft YaHei"/>
              </a:defRPr>
            </a:pPr>
            <a:r>
              <a:t>端到端学习 / 面向未来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63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Microsoft YaHei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074920"/>
            <a:ext cx="5303520" cy="457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▸ 环境数量与多样性是提升Agent能力的关键杠杆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5074920"/>
            <a:ext cx="5303520" cy="457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19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▸ 自动化合成Pipeline极大降低了环境构建成本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669280"/>
            <a:ext cx="5303520" cy="457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715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▸ 代码驱动 + LLM验证是当前最可靠的技术组合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59" y="5669280"/>
            <a:ext cx="5303520" cy="4572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19" y="5715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▸ 2026年是Agentic环境模拟的爆发年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822960"/>
            <a:ext cx="2286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参考文献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[1] Agent World Model — Wang et al., 2026 (ICML 2026)</a:t>
            </a:r>
            <a:br/>
            <a:r>
              <a:t>     arXiv:2602.10090  |  github.com/Snowflake-Labs/agent-world-model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[2] Synthetic Computers at Scale for Long-Horizon Productivity Simulation</a:t>
            </a:r>
            <a:br/>
            <a:r>
              <a:t>     arXiv:2604.28181, 2026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[3] Neural Computers</a:t>
            </a:r>
            <a:br/>
            <a:r>
              <a:t>     arXiv:2604.06425, 2026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[4] Simia: Simulating Environments with Reasoning Models for Agent Training</a:t>
            </a:r>
            <a:br/>
            <a:r>
              <a:t>     Microsoft, arXiv:2511.01824, 2025  |  github.com/microsoft/Simia-Agent-Training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[5] AgentGym — ACL 2025  |  agentgym.github.io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[6] GEM: A Gym for Agentic LLMs</a:t>
            </a:r>
            <a:br/>
            <a:r>
              <a:t>     arXiv:2510.01051, 2025  |  github.com/axon-rl/gem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[7] MLGym — Meta, arXiv:2502.14499, 2025  |  github.com/facebookresearch/MLGym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300" b="0">
                <a:solidFill>
                  <a:srgbClr val="A0AEC0"/>
                </a:solidFill>
                <a:latin typeface="Microsoft YaHei"/>
              </a:defRPr>
            </a:pPr>
            <a:r>
              <a:t>[8] Scaling Environments for Interactive Agentic Experience Collection</a:t>
            </a:r>
            <a:br/>
            <a:r>
              <a:t>     Survey, arXiv:2511.09586,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2FF"/>
                </a:solidFill>
                <a:latin typeface="Microsoft YaHei"/>
              </a:defRPr>
            </a:pPr>
            <a:r>
              <a:t>Agentic 环境构造与环境模拟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AEC0"/>
                </a:solidFill>
                <a:latin typeface="Microsoft YaHei"/>
              </a:defRPr>
            </a:pPr>
            <a: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