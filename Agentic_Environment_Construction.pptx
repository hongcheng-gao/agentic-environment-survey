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Agentic Environment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智能体环境构建全景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DDDDD"/>
                </a:solidFill>
              </a:rPr>
              <a:t>Taxonomy · Representative Work · Key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DDDD"/>
                </a:solidFill>
              </a:rPr>
              <a:t>2025–2026  |  Agentic AI Research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Contents  · 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424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698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为什么环境很重要？  Why Environments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184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运行时机制分类框架  Runtime-Mechanism Taxonomy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96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全景图：5大类 + 平台层  Landscape: 5 Categories +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88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57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A类：LLM代码生成环境  LLM Code-Gen Environments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369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644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B类：手工编码程序模拟  Hand-Coded Programmatic Simulation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8561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13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C类：真实软件沙箱  Real Software Sandboxes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3425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61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D类：LLM运行时模拟  LLM-as-Runtime-Simulator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828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10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E类：生成式世界模型  Generative World Models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315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458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平台聚合层  Platform Aggregators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502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007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关键趋势与展望  Key Trends &amp;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Environments Matter  ·  为什么环境很重要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训练信号来源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Environments provide the reward / feedback signal that teaches agents to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⚡  数据规模瓶颈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Real-world data is expensive &amp; slow; synthetic/simulated envs unlock unlimited rollouts.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🔁  可复现性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3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Standardized envs enable fair apples-to-apples comparisons across agent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0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🚀  课程与难度控制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3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Programmatic envs let researchers dial difficulty, enabling curriculum learning.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🛡️  安全测试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Sandboxes let agents try destructive actions without real-world consequences.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24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🌐  泛化与多样性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Diverse env distributions stress-test generalization beyond a single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运行时机制分类框架  ·  Runtime-Mechanism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DDDDD"/>
                </a:solidFill>
              </a:rPr>
              <a:t>核心问题：在推理阶段（Inference Time），谁/什么在产生环境状态？
Key question: At RUNTIME, what generates the next environment state?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103120" cy="475488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55064"/>
            <a:ext cx="157276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LLM代码生成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15727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LLM Code-Gen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2103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94560"/>
            <a:ext cx="1901951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writes code at BUILD TIME;
runtime is deterministic Python/DSL execution.
零LLM推理开销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600200"/>
            <a:ext cx="2103120" cy="475488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5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655064"/>
            <a:ext cx="157276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手工编码模拟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856232"/>
            <a:ext cx="15727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Hand-Coded Sim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2121408"/>
            <a:ext cx="2103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2194560"/>
            <a:ext cx="1901951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Human-written Python/JS rules simulate
world dynamics at runtime.
最稳定、可控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2896" y="1600200"/>
            <a:ext cx="2103120" cy="475488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1655064"/>
            <a:ext cx="157276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真实软件沙箱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856232"/>
            <a:ext cx="15727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Real Sandbox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896" y="2121408"/>
            <a:ext cx="2103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194560"/>
            <a:ext cx="1901951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Actual OS/browser/app running in
VM / Docker / emulator.
最真实、部署成本高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7184" y="1600200"/>
            <a:ext cx="2103120" cy="47548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1655064"/>
            <a:ext cx="157276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LLM运行时模拟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1856232"/>
            <a:ext cx="15727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LLM Runtime Sim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7184" y="2121408"/>
            <a:ext cx="2103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194560"/>
            <a:ext cx="1901951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generates state transitions
at INFERENCE TIME.
无限扩展但高延迟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1472" y="1600200"/>
            <a:ext cx="2103120" cy="47548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1655064"/>
            <a:ext cx="157276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生成式世界模型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1856232"/>
            <a:ext cx="15727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Gen World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1472" y="2121408"/>
            <a:ext cx="2103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194560"/>
            <a:ext cx="1901951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Neural net predicts next visual frame
or latent state (no LLM).
端到端可微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  ·  Platform Aggregators  平台聚合层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736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AgentGym · GEM · MLGym · BALROG · Cradle  —  wrap existing environments for training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全景图  ·  Landscape of Agentic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713232"/>
            <a:ext cx="2267712" cy="475488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" y="7498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LLM代码生成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50976"/>
            <a:ext cx="1810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</a:rPr>
              <a:t>LLM Code-Gen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1" y="1261872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984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AWM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1" y="1581912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184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Agent-World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1" y="1901952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385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EnvGen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1" y="2221992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585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Eurekaverse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1" y="2542032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786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WorldCoder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1" y="2862072"/>
            <a:ext cx="2176272" cy="347472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9864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Synthetic
Computers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1" y="3255264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91840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SceneCraft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1" y="3575304"/>
            <a:ext cx="2176272" cy="274320"/>
          </a:xfrm>
          <a:prstGeom prst="rect">
            <a:avLst/>
          </a:prstGeom>
          <a:solidFill>
            <a:srgbClr val="228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611880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LLMR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6312" y="713232"/>
            <a:ext cx="2267712" cy="475488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7498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74980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手工编码模拟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950976"/>
            <a:ext cx="1810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</a:rPr>
              <a:t>Hand-Coded Sim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2032" y="126187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12984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AppWorld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158191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16184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InterCode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190195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19385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WebShop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42032" y="222199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22585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ALFWorld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42032" y="254203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25786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ScienceWorld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2032" y="286207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28986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τ-bench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42032" y="318211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32186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MiniWob++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350215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35387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AgentBench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2032" y="3822192"/>
            <a:ext cx="2176272" cy="274320"/>
          </a:xfrm>
          <a:prstGeom prst="rect">
            <a:avLst/>
          </a:prstGeom>
          <a:solidFill>
            <a:srgbClr val="2E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38587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ToolBench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1" y="713232"/>
            <a:ext cx="2267712" cy="475488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82895" y="7498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74980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真实沙箱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950976"/>
            <a:ext cx="1810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</a:rPr>
              <a:t>Real Sandbox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73751" y="126187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59" y="12984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OSWorld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73751" y="158191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59" y="16184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WebArena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73751" y="190195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59" y="19385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AndroidWorld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73751" y="222199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59" y="22585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SWE-bench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73751" y="254203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59" y="25786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SWE-Gym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3751" y="286207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59" y="28986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R2E-Gym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73751" y="318211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7759" y="32186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BrowserGym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73751" y="350215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59" y="35387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WorkArena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73751" y="382219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37759" y="38587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Spider2-V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73751" y="4142232"/>
            <a:ext cx="2176272" cy="274320"/>
          </a:xfrm>
          <a:prstGeom prst="rect">
            <a:avLst/>
          </a:prstGeom>
          <a:solidFill>
            <a:srgbClr val="7E3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59" y="41788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MCP-Universe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59751" y="713232"/>
            <a:ext cx="2267712" cy="47548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14615" y="7498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62088" y="74980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LLM运行时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62088" y="950976"/>
            <a:ext cx="1810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</a:rPr>
              <a:t>LLM Runtime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05471" y="1261872"/>
            <a:ext cx="2176272" cy="274320"/>
          </a:xfrm>
          <a:prstGeom prst="rect">
            <a:avLst/>
          </a:prstGeom>
          <a:solidFill>
            <a:srgbClr val="AF5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69479" y="12984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Simia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05471" y="1581912"/>
            <a:ext cx="2176272" cy="274320"/>
          </a:xfrm>
          <a:prstGeom prst="rect">
            <a:avLst/>
          </a:prstGeom>
          <a:solidFill>
            <a:srgbClr val="AF5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69479" y="16184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GenEnv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05471" y="1901952"/>
            <a:ext cx="2176272" cy="274320"/>
          </a:xfrm>
          <a:prstGeom prst="rect">
            <a:avLst/>
          </a:prstGeom>
          <a:solidFill>
            <a:srgbClr val="AF5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69479" y="19385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WebDreamer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05471" y="2221992"/>
            <a:ext cx="2176272" cy="274320"/>
          </a:xfrm>
          <a:prstGeom prst="rect">
            <a:avLst/>
          </a:prstGeom>
          <a:solidFill>
            <a:srgbClr val="AF5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69479" y="22585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WMA Agents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05471" y="2542032"/>
            <a:ext cx="2176272" cy="274320"/>
          </a:xfrm>
          <a:prstGeom prst="rect">
            <a:avLst/>
          </a:prstGeom>
          <a:solidFill>
            <a:srgbClr val="AF5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79" y="25786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StepGame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91472" y="713232"/>
            <a:ext cx="2267712" cy="47548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46336" y="7498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93807" y="74980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世界模型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93807" y="950976"/>
            <a:ext cx="1810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</a:rPr>
              <a:t>World Model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37192" y="126187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01199" y="12984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Genie 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37192" y="158191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01199" y="161848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Genie 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37192" y="190195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199" y="193852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GameNGen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37192" y="222199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01199" y="225856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UniSim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37192" y="254203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01199" y="257860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DreamerV3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537192" y="2862072"/>
            <a:ext cx="2176272" cy="274320"/>
          </a:xfrm>
          <a:prstGeom prst="rect">
            <a:avLst/>
          </a:prstGeom>
          <a:solidFill>
            <a:srgbClr val="2F8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01199" y="2898648"/>
            <a:ext cx="204825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Neural Computers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4592" y="6400800"/>
            <a:ext cx="11795760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455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P  平台层  Platforms: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31720" y="6455664"/>
            <a:ext cx="9418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AgentGym  ·  GEM  ·  MLGym  ·  BALROG  ·  Cradle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A类  ·  LLM Code-Gen Environments  LLM代码生成环境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机制：LLM在构建期（Build Time）生成可执行代码；运行期无LLM参与 — 零推理开销，完全确定性
Mechanism: LLM writes executable code/rules at BUILD TIME; runtime execution is fully deterministic (zero LLM inference cost)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00200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600200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AWM
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Agent Workflow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Mine reusable task subgraphs via LLM; store as Python functions.
WebArena ↑ 51.1% @ 1/4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803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arxiv.org/abs/2409.07429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600200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Agent-World
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673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Snowflake Agent World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0116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generates DSL world-rules; agent + env co-evolve (self-play).
Robust policy via curriculum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803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github.com/Snowflake-Labs/agent-world-model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459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EnvGen
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673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Environment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proposes env configs to close agent skill gaps; iterative refinement.
NetHack curriculum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803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arxiv.org/abs/2403.12014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319272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3319272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Eurekaverse
(2024)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242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Eureka → full scene 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730752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evolves terrain + reward code via evolutionary search.
Isaac Gym robot locomotion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599431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arxiv.org/abs/2412.09626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319272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3319272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WorldCoder
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39242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Code-as-world-model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730752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writes Python world model from interaction; used for planning.
MiniGrid, BabyAI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599431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arxiv.org/abs/2402.12275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319272"/>
            <a:ext cx="3794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319272"/>
            <a:ext cx="3794760" cy="347472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Synthetic
Computers
(2024)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39242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Synthetic Computer 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30752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LLM generates GUI task trees; emulated for desktop agent training.
WindowsAgentArena ↑20%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99431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arxiv.org/abs/2406.14979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B类  ·  Hand-Coded Programmatic Simulation  手工编码程序模拟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机制：人工编写Python/JS规则模拟世界动态；运行时无需任何模型，最稳定可控
Mechanism: Human-written Python/JS rules simulate dynamics; no model at runtime — most stable and controllable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00200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600200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367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AppWorld
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550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App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84248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53 apps, 750 tasks; full multi-app workflows (email+calendar+files).
SR: GPT-4 ~49%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0720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appworld.cs.columbia.edu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600200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600200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367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InterCode
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550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Interactive Coding 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984248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Bash + SQL shells; 2-way turn-based execution feedback.
Logged exec 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0720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intercode-nlp.github.io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367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WebShop
(2022)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6550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E-commerce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984248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1.18M products, scripted web store; reward = attribute match.
Baseline ≈74% of 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0720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webshop.nlp.cs.princeton.edu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172968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3172968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209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ALFWorld
(2021)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2278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Text↔3D Household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55701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ALFRED + TextWorld; aligned text/vision 3D home tasks.
ReAct: 78% 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7997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alfworld.github.io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172968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172968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209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ScienceWorld
(2022)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2278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Science Lab Sim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55701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30 elementary science tasks in text env; tests causal reasoning.
30 task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37997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sciworld.apps.allenai.org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172968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172968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209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τ-bench
(2024)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2278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Tool-Agent-User Bench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55701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Dynamic user simulation; airline + retail domains.
Tests multi-turn policy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37997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arxiv.org/abs/2406.12045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745736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4745736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782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MiniWob++
(2017)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800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Mini World of Bits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12978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104 browser tasks; pixel+DOM observations; programmatic rewards.
Foundational 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95274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miniwob-plusplus.github.io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4745736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0" y="4745736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4782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AgentBench
(2023)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4800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Multi-Env LLM Bench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512978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8 env types (OS, DB, Game, Shop…); GPT-4 best @4.0/10.
Unified eval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595274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llmbench.oscopilot.github.io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4745736"/>
            <a:ext cx="379476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4745736"/>
            <a:ext cx="3794760" cy="329184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782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ToolBench
(2023)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4800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API Tool 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12978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16K APIs (RapidAPI); trains ToolLLaMA via DFSDT.
Generalizable tool use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95274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arxiv.org/abs/2307.16789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C类  ·  Real Software Sandboxes  真实软件沙箱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机制：真实操作系统/浏览器/App运行于VM/Docker/模拟器；最高真实性，适合闭环部署评估
Mechanism: Real OS/browser/app runs in VM/Docker/emulator — highest fidelity, ideal for deployment-ready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160020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60020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276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OSWorld
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64592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OS Task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96596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369 computer tasks across Windows/macOS/Ubuntu; screenshot obs.
GPT-4V: 12.2% 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77063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os-world.github.io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0020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60020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6276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WebArena
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64592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Realistic Web 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96596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5 real-site clones (Reddit,GitLab,Shop…); 812 tasks.
Best: ~35% 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77063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webarena.dev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160020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60020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6276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AndroidWorld
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64592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Android Task 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96596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116 tasks across 20 real Android apps; dynamic rewards.
Gemini best ~30%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77063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arxiv.org/abs/2405.14573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160020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07424" y="160020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6276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SWE-bench
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164592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GitHub Issue Fixing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96596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2,294 real Python repo PRs; full repo context.
Claude 3.5: 49% resolved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77063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swebench.com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310896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" y="310896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3136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SWE-Gym
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5" y="315468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SWE Training Gym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347472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11,000 Python env instances for RL training from SWE-bench dist.
RL fine-tuning scaffold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427939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arxiv.org/abs/2412.21139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310896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0" y="310896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2" y="3136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R2E-Gym
(2025)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315468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Repo2Env Gym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2" y="347472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Auto-converts GitHub repos → executable test envs; 1000+ repos.
Scalable SWE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2112" y="427939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r2e-gym.github.io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08192" y="310896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08192" y="310896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1344" y="3136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BrowserGym
(2024)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15468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Browser Action Space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347472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Unified gym interface over WebArena/MiniWob++/WorkArena.
Standardized browser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344" y="427939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github.com/ServiceNow/BrowserGym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07424" y="310896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07424" y="310896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0576" y="3136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WorkArena
(2024)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315468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Enterprise Web Tasks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347472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ServiceNow; 19K tasks across L1/L2/L3 difficulty levels.
Enterprise workflows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427939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github.com/ServiceNow/WorkArena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728" y="461772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9728" y="461772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4645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Spider2-V
(2024)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25295" y="466344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Data Science Tasks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498348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494 real enterprise DS tasks (Databricks, BigQuery, dbt…).
GPT-4V: 14% SR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578815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spider2-v.github.io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4617720"/>
            <a:ext cx="290779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08960" y="4617720"/>
            <a:ext cx="2907792" cy="310896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82112" y="4645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MCP-Universe
(2025)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466344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MCP Server Bench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2112" y="4983480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300+ MCP servers as standardized tool environments.
Rising de-facto standard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2112" y="5788152"/>
            <a:ext cx="2761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00B4D8"/>
                </a:solidFill>
              </a:rPr>
              <a:t>📄 github.com/modelcontextprotocol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D类  ·  LLM-as-Runtime-Simulator  LLM运行时模拟器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机制：LLM在推理阶段实时生成状态转移；无需编写规则，天然多域，但延迟高、一致性难保证
Mechanism: LLM generates state transitions AT INFERENCE TIME — no rules needed, naturally multi-domain, but high latency &amp; consistency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645920"/>
            <a:ext cx="2267712" cy="38404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Simia
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LLM Simulation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Fully LLM-driven text env; GPT-4 acts as game master.
Tasks: household, travel, card games.
Zero-code environment spin-up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arxiv.org/abs/2309.02427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1176" y="1645920"/>
            <a:ext cx="2267712" cy="38404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GenEnv
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Generative Env + Co-evolution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LLM generates env + reward jointly with agent training (co-evolution).
Self-play loop: agent improvement drives harder envs.
ArXiv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arxiv.org/abs/2406.01562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645920"/>
            <a:ext cx="2267712" cy="38404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WebDreamer
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LLM Web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LLM simulates web page transitions for tree-search planning.
Model-based planning over WebArena; +18% vs reactive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arxiv.org/abs/2411.06559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645920"/>
            <a:ext cx="2267712" cy="38404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WMA Agents
(2024)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World Model Augmented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Small LLM world model assists agent planning via imagination rollouts.
VisualWebArena setting; separates model from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arxiv.org/abs/2409.07184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10928" y="1645920"/>
            <a:ext cx="2267712" cy="384048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7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StepGame
(2022)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7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Spatial LLM Sim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LLM-simulated spatial reasoning game;
Tests multi-step reasoning consistency in LLM-as-env setting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arxiv.org/abs/2204.08982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E类  ·  Generative World Models  生成式世界模型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机制：神经网络预测下一帧视觉/隐状态（非LLM文本生成）；端到端可微，支持纯神经规划
Mechanism: Neural net predicts next visual frame / latent state — fully differentiable, enables pure neural planning (no symbolic rules)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645920"/>
            <a:ext cx="2267712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Genie 1
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Generative Interactive 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Unsupervised learning of interactive envs from internet video;
Latent action codes; generates playable 2D worlds at 1 FPS.
Google DeepMind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arxiv.org/abs/2402.15391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1176" y="1645920"/>
            <a:ext cx="2267712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Genie 2
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Large-Scale World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Scales Genie to 3D; diverse controllable 3D world generation from single image.
Enables novel agent training environments at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deepmind.google/genie2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645920"/>
            <a:ext cx="2267712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GameNGen
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Neural Game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Single diffusion model plays and simulates DOOM in real-time.
31 FPS; PSNR comparable to lossy JPEG; pure neural game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arxiv.org/abs/2408.14837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645920"/>
            <a:ext cx="2267712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UniSim
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Universal 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Generalist neural sim trained on 1500h of diverse action-video data.
Simulates robot &amp; human actions; used for RL training.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arxiv.org/abs/2310.06114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10928" y="1645920"/>
            <a:ext cx="2267712" cy="38404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7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DreamerV3
(2023)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7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World Model 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Discrete world model; trains purely in latent imagination.
First to solve all Atari 57 with single hyperparameter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arxiv.org/abs/2301.04104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P层  ·  Platform Aggregators  平台聚合层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DDDDD"/>
                </a:solidFill>
              </a:rPr>
              <a:t>这些框架本身不是模拟器 — 它们封装现有环境，提供统一训练/评测接口
These are NOT simulators — they wrap existing environments and provide unified training/evaluation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645920"/>
            <a:ext cx="2267712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AgentGym
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Multi-Env Training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Wraps 14 envs (WebShop, ALFWorld, SciWorld, DB, OS…);
Provides AgentTraj-v1 (6M steps) + AgentEvol training.
⚠ NOT a simulator — pure wrapper/pipeline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agentgym.github.io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1176" y="1645920"/>
            <a:ext cx="2267712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GEM
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Generalist Env Mixture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Curriculum over diverse env mixture for generalist agents;
Dynamic task sampling based on agent proficiency.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arxiv.org/abs/2406.xxxxx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645920"/>
            <a:ext cx="2267712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MLGym
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ML Research Gym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Facebook; ML research tasks (improve model, find hyperparams);
Measures if agents can do ML research autonomously.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arxiv.org/abs/2502.14499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645920"/>
            <a:ext cx="2267712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BALROG
(2024)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RL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Benchmarks LLMs on challenging RL games (NetHack, Crafter, MiniHack);
Tests long-horizon sequential decision making.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balrogai.com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1645920"/>
            <a:ext cx="2267712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10928" y="1645920"/>
            <a:ext cx="2267712" cy="38404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7" y="1700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Cradle
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7" y="17190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Foundation Model Game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103120"/>
            <a:ext cx="20848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Unified framework: screenshot→LLM→action for any game/desktop app;
Tested on Red Dead Redemption 2, Dealer's Life, etc.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5486400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00B4D8"/>
                </a:solidFill>
              </a:rPr>
              <a:t>📄 baai-agents.github.io/cradle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关键趋势与展望  ·  Key Trends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960120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960120"/>
            <a:ext cx="502920" cy="1691640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5270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03327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T1  MCP标准化  MCP Protocol Standardization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399032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MCP成为A/C类环境的事实接口标准；tools-as-environments paradigm加速工具生态整合。
MCP is becoming the de-facto API standard for A/C-class envs.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960120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960120"/>
            <a:ext cx="502920" cy="1691640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5270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103327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T2  智能体-环境协同进化  Agent–Environment Co-evolution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399032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Agent-World与GenEnv均实现了AlphaGo-style自博弈：agent进化驱动更难环境，环境倒逼更强agent。
Self-play loop mirrors AlphaGo's success — environment difficulty tracks agent capability.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834639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834639"/>
            <a:ext cx="502920" cy="1691640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34015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907791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T3  自动化环境构建  Automated Environment 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273551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EnvGen、R2E-Gym、SWE-Gym将环境生成本身自动化；人工设计成本趋向零。
Environment generation itself is being automated — human design cost approaches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834639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834639"/>
            <a:ext cx="502920" cy="1691640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34015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907791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T4  真实软件沙箱主导评测  Real Sandbox Dominates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273551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OSWorld、SWE-bench、AndroidWorld已成为LLM能力标杆；真实性 &gt; 可控性的评测范式转变。
Real sandboxes are the new gold standard — fidelity over controllability for evaluation.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709159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4709159"/>
            <a:ext cx="502920" cy="169164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527608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7823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T5  世界模型下移到推理  World Models Moving to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148071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DreamerV3/Genie路线：训练时用真实env，推理时用神经世界模型加速规划。
Train on real envs; plan in learned neural world models at inference — best of both worlds.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709159"/>
            <a:ext cx="5650992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4709159"/>
            <a:ext cx="502920" cy="16916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527608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47823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T6  统一基准稀缺  Unified Benchmark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5148071"/>
            <a:ext cx="4983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</a:rPr>
              <a:t>跨A/B/C/D/E类的统一评测体系仍然缺失；下一步需要涵盖cost/latency/fidelity的多维基准。
No unified benchmark spans all 5 categories — multi-dimensional (cost/latency/fidelity) benchmark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各类对比  ·  Category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19202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0552" y="960120"/>
            <a:ext cx="1143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76272" y="102412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构建成本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0984" y="960120"/>
            <a:ext cx="16459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3" y="1024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运行延迟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960120"/>
            <a:ext cx="109728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0056" y="1024128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真实性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960120"/>
            <a:ext cx="1143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02412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扩展性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960120"/>
            <a:ext cx="1143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02412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一致性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960120"/>
            <a:ext cx="35661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0241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代表工作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371600"/>
            <a:ext cx="1920240" cy="777240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148132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  LLM代码生成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30552" y="137160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148132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中等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00984" y="1371600"/>
            <a:ext cx="1645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3" y="14813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极低★★★★★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1371600"/>
            <a:ext cx="1097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0056" y="1481328"/>
            <a:ext cx="1005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137160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48132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137160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148132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9912" y="1371600"/>
            <a:ext cx="3566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148132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AWM·Eurekaverse·EnvGen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240280"/>
            <a:ext cx="1920240" cy="777240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23500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B  手工编码模拟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0552" y="2240280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76272" y="235000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00984" y="2240280"/>
            <a:ext cx="164592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3" y="23500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极低★★★★★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4336" y="2240280"/>
            <a:ext cx="109728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0056" y="2350008"/>
            <a:ext cx="1005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低-中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8" y="2240280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235000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★★★☆☆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2240280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35000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2" y="2240280"/>
            <a:ext cx="356616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235000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AppWorld·ALFWorld·WebShop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108960"/>
            <a:ext cx="1920240" cy="777240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3218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C  真实沙箱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0552" y="310896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76272" y="321868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低*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00984" y="3108960"/>
            <a:ext cx="1645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6703" y="321868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低★★★★☆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74336" y="3108960"/>
            <a:ext cx="1097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218688"/>
            <a:ext cx="1005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9048" y="310896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4768" y="321868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★★★☆☆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9480" y="310896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321868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39912" y="3108960"/>
            <a:ext cx="3566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5632" y="321868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OSWorld·SWE-bench·WebArena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3977639"/>
            <a:ext cx="1920240" cy="777240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408736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D  LLM运行时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30552" y="3977639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76272" y="408736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极低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00984" y="3977639"/>
            <a:ext cx="164592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46703" y="40873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高★★☆☆☆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74336" y="3977639"/>
            <a:ext cx="109728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0056" y="4087368"/>
            <a:ext cx="1005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中-高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9048" y="3977639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44768" y="408736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69480" y="3977639"/>
            <a:ext cx="114300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0" y="408736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★★☆☆☆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39912" y="3977639"/>
            <a:ext cx="3566160" cy="7772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85632" y="408736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Simia·GenEnv·WebDreamer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846320"/>
            <a:ext cx="1920240" cy="77724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8600" y="495604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  世界模型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0552" y="484632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76272" y="495604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极高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00984" y="4846320"/>
            <a:ext cx="1645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46703" y="49560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低★★★★☆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74336" y="4846320"/>
            <a:ext cx="1097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0056" y="4956048"/>
            <a:ext cx="1005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中-高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9048" y="484632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44768" y="495604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★★★★☆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80" y="4846320"/>
            <a:ext cx="1143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5200" y="4956048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★★★☆☆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39912" y="4846320"/>
            <a:ext cx="3566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85632" y="495604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Genie·GameNGen·DreamerV3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60350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DD"/>
                </a:solidFill>
              </a:rPr>
              <a:t>* C类：VM/Docker基础设施成本高，但环境本身无需手工编码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总结  · 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97280"/>
            <a:ext cx="2212848" cy="3108960"/>
          </a:xfrm>
          <a:prstGeom prst="rect">
            <a:avLst/>
          </a:prstGeom>
          <a:solidFill>
            <a:srgbClr val="0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17043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A  LLM代码生成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00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LLM writes rules/code; runtime is pure Python.
→ Best cost/determinism tradeoff
→ AWM, EnvGen, Eurekaverse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097280"/>
            <a:ext cx="2212848" cy="3108960"/>
          </a:xfrm>
          <a:prstGeom prst="rect">
            <a:avLst/>
          </a:prstGeom>
          <a:solidFill>
            <a:srgbClr val="1A5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117043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B  手工编码模拟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1600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Human-designed rules; zero runtime cost.
→ Most stable for training
→ ALFWorld, WebShop, AppWorld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097280"/>
            <a:ext cx="2212848" cy="3108960"/>
          </a:xfrm>
          <a:prstGeom prst="rect">
            <a:avLst/>
          </a:prstGeom>
          <a:solidFill>
            <a:srgbClr val="6A1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17043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C  真实沙箱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600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 OS/browser; gold standard fidelity.
→ SWE-bench, OSWorld, WebArena
→ VM infrastructure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488" y="1097280"/>
            <a:ext cx="2212848" cy="3108960"/>
          </a:xfrm>
          <a:prstGeom prst="rect">
            <a:avLst/>
          </a:prstGeom>
          <a:solidFill>
            <a:srgbClr val="9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117043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D  LLM运行时模拟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600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LLM = game master at inference time.
→ Zero-code, multi-domain
→ Simia, GenEnv, WebDreamer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10928" y="1097280"/>
            <a:ext cx="2212848" cy="310896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8" y="117043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E  生成式世界模型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1600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Neural net predicts next frame.
→ Differentiable, scalable
→ Genie, GameNGen, DreamerV3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4389120"/>
            <a:ext cx="11631168" cy="4754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62272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P  Platform Aggregators:  AgentGym · GEM · MLGym · BALROG · Cradle  —  NOT simulators, wrap existing envs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74920"/>
            <a:ext cx="11448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✦  Runtime mechanism (不是域或构建方式) is the correct classification criterion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58968"/>
            <a:ext cx="11448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✦  AWM/Synthetic Computers = A类 (LLM code-gen); NOT 'Code-Driven traditional' nor 'LLM-as-Simulator'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43016"/>
            <a:ext cx="11448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✦  AgentGym = Platform (P层); it wraps 14 envs — it is NOT a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27064"/>
            <a:ext cx="11448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✦  MCP protocol unifying A/C-class tool environments; self-play co-evolution (Agent-World, GenEnv) is the frontier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