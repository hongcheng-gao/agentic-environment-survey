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0B4D8"/>
                </a:solidFill>
              </a:rPr>
              <a:t>TreeReasoner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487168"/>
            <a:ext cx="94457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FFFFFF"/>
                </a:solidFill>
              </a:rPr>
              <a:t>Reinforcing Tool-Augmented Tree-of-Videos Reasoning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383280"/>
            <a:ext cx="1371600" cy="32918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3664" y="3419856"/>
            <a:ext cx="1261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CVPR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3383280"/>
            <a:ext cx="274320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3419856"/>
            <a:ext cx="2633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Long-Video Understanding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383280"/>
            <a:ext cx="2286000" cy="329184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3" y="3419856"/>
            <a:ext cx="2176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Tree-of-Thought + RL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931920"/>
            <a:ext cx="2249424" cy="132588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4005072"/>
            <a:ext cx="202996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🎯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4343400"/>
            <a:ext cx="202996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Long video: find minimal evidence frames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23744" y="3931920"/>
            <a:ext cx="2249424" cy="132588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33472" y="4005072"/>
            <a:ext cx="202996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🌳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3472" y="4343400"/>
            <a:ext cx="202996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Tree-structured parallel hypothesis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4608" y="3931920"/>
            <a:ext cx="2249424" cy="132588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4336" y="4005072"/>
            <a:ext cx="202996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🔧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336" y="4343400"/>
            <a:ext cx="202996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TemporalZoom · Jump · Sliding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5472" y="3931920"/>
            <a:ext cx="2249424" cy="132588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4005072"/>
            <a:ext cx="202996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🏋️ Train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343400"/>
            <a:ext cx="202996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SFT warmup → ToT-RPO (GRPO extension)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46336" y="3931920"/>
            <a:ext cx="2249424" cy="132588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6063" y="4005072"/>
            <a:ext cx="202996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📊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56063" y="4343400"/>
            <a:ext cx="202996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+7.3% over IO, +2.1% over chain tool-call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677"/>
                </a:solidFill>
              </a:rPr>
              <a:t>Anonymous CVPR 2026 Submission  ·  Paper ID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动机与问题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Motivation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EE"/>
                </a:solidFill>
              </a:rPr>
              <a:t>Why is long-video understanding hard?  Why do current methods fall short?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49808"/>
            <a:ext cx="11731752" cy="50292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229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🎯  Core Challenge: Given a long video (hours), find the MINIMAL chain of frames that answers a question — efficiently.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389888"/>
            <a:ext cx="2798064" cy="52120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389888"/>
            <a:ext cx="2798064" cy="38404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43560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❌  Uniform 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1847088"/>
            <a:ext cx="257860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Sample fixed N frames uniformly
→ Visual redundancy: most frames are
  irrelevant to the question
→ Ignores temporal relevance entirely
→ Performance saturates quickly with
  more frames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90672" y="1389888"/>
            <a:ext cx="2798064" cy="52120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90672" y="1389888"/>
            <a:ext cx="2798064" cy="38404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143560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❌  Adaptive Frame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847088"/>
            <a:ext cx="257860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Vision-language models select relevant frames
→ Cannot be optimized end-to-end
→ Selection and understanding are
  decoupled — suboptimal
→ Acts like a fixed agent workflow,
  limits performance ceiling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0176" y="1389888"/>
            <a:ext cx="2798064" cy="52120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0176" y="1389888"/>
            <a:ext cx="2798064" cy="38404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1616" y="143560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❌  Naive Chain Tool-Call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9904" y="1847088"/>
            <a:ext cx="257860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Single reasoning path with sequential
tool invocations
→ Long-context dependence accumulates
  errors
→ Can get trapped in wrong temporal
  region (no recovery)
→ Linear: cannot explore alternatives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389888"/>
            <a:ext cx="2798064" cy="52120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1389888"/>
            <a:ext cx="2798064" cy="384048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1435608"/>
            <a:ext cx="2615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✅  TreeReasoner (Ours)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1847088"/>
            <a:ext cx="257860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Parallel tree-structured search
with frame-level tools
→ Multiple hypotheses explored in parallel
→ Early stopping when answer found
→ End-to-end trainable via ToT-RPO
→ Minimal frames, maximum accuracy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80" y="1773936"/>
            <a:ext cx="2798064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方法总览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TreeReasoner: Framework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EE"/>
                </a:solidFill>
              </a:rPr>
              <a:t>Tool-augmented tree-structured reasoning for long video understanding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749808"/>
            <a:ext cx="3749039" cy="53492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749808"/>
            <a:ext cx="3749039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79552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795528"/>
            <a:ext cx="26974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Hypothesis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234440"/>
            <a:ext cx="3474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Given a question q and video F, the model generates
n PARALLEL hypotheses about WHERE and WHEN
relevant evidence might occur.
Each hypothesis specifies:
  • Temporal region of interest
  • Tool to invoke
  • Reasoning rationale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1" y="301752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79" y="749808"/>
            <a:ext cx="3749039" cy="53492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79" y="749808"/>
            <a:ext cx="3749039" cy="411480"/>
          </a:xfrm>
          <a:prstGeom prst="rect">
            <a:avLst/>
          </a:prstGeom>
          <a:solidFill>
            <a:srgbClr val="148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19" y="79552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199" y="795528"/>
            <a:ext cx="26974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Tool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234440"/>
            <a:ext cx="3474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For each hypothesis, a specialized frame-level
tool is invoked:
  🔍 TemporalZoom(ts, te)
     Higher-res frames within current clip
  ⏭  TemporalJump(ts, te)
     Jump to different temporal region
  ↔  Sliding(ts, te, Δt)
     Browse adjacent temporal segments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3" y="301752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36992" y="749808"/>
            <a:ext cx="3749039" cy="53492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36992" y="749808"/>
            <a:ext cx="3749039" cy="41148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8431" y="795528"/>
            <a:ext cx="822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7112" y="795528"/>
            <a:ext cx="26974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Tree Expansion &amp;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152" y="1234440"/>
            <a:ext cx="3474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Every tool call spawns a new child node.
The tree expands breadth-first until:
  • An answer is reached, OR
  • Depth budget D is exhausted
Result: minimal yet sufficient
evidence chain → final answer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6199632"/>
            <a:ext cx="11786616" cy="438912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263640"/>
            <a:ext cx="11457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D166"/>
                </a:solidFill>
              </a:rPr>
              <a:t>Key insight: tree structure enables parallel exploration of temporal hypotheses; tools transform passive prediction → active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工具设计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Tool Design: Three Temporal Navigation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EE"/>
                </a:solidFill>
              </a:rPr>
              <a:t>Tools mirror natural human video-watching behaviors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749808"/>
            <a:ext cx="3749039" cy="57607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749808"/>
            <a:ext cx="3749039" cy="438912"/>
          </a:xfrm>
          <a:prstGeom prst="rect">
            <a:avLst/>
          </a:prstGeom>
          <a:solidFill>
            <a:srgbClr val="148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786384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🔧 TemporalZoom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" y="1280160"/>
            <a:ext cx="3529583" cy="27432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07592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TemporalZoom(ts, 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1645920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D166"/>
                </a:solidFill>
              </a:rPr>
              <a:t>≈ Temporal Zooming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1956816"/>
            <a:ext cx="3529583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Extracts frames at HIGHER temporal resolution
from a specific time interval [ts, te].
Behavior: carefully examine interesting details
within the current clip — like leaning in
for a closer look.
When to use: hypothesis indicates relevant event
is within a known temporal region but
needs finer-grained analysis.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" y="6126480"/>
            <a:ext cx="3566159" cy="292608"/>
          </a:xfrm>
          <a:prstGeom prst="rect">
            <a:avLst/>
          </a:prstGeom>
          <a:solidFill>
            <a:srgbClr val="148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153912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Input: current clip
Output: higher-res sub-clip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79" y="749808"/>
            <a:ext cx="3749039" cy="57607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79" y="749808"/>
            <a:ext cx="3749039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8807" y="786384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🔧 TemporalJump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78807" y="1280160"/>
            <a:ext cx="3529583" cy="27432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33671" y="1307592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TemporalJump(ts', te')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7" y="1645920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D166"/>
                </a:solidFill>
              </a:rPr>
              <a:t>≈ Temporal Jumping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8807" y="1956816"/>
            <a:ext cx="3529583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Jumps OUT of the current clip to extract
frames from a DIFFERENT temporal region
[ts', te'] in the global video.
Behavior: seeking relevant evidence elsewhere
in the video — like fast-forwarding to
a different scene.
When to use: current region exhausted or
hypothesis points to distant temporal location.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19" y="6126480"/>
            <a:ext cx="3566159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33671" y="6153912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Input: global video
Output: new clip (different region)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36992" y="749808"/>
            <a:ext cx="3749039" cy="57607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36992" y="749808"/>
            <a:ext cx="3749039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9" y="786384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🔧 Sliding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19" y="1280160"/>
            <a:ext cx="3529583" cy="27432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01583" y="1307592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Sliding(ts, te, Δt)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1645920"/>
            <a:ext cx="3529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D166"/>
                </a:solidFill>
              </a:rPr>
              <a:t>≈ Temporal Sliding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9" y="1956816"/>
            <a:ext cx="3529583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Slides a temporal window starting from
interval [ts, te] with stride Δt, progressively
exploring adjacent segments.
Behavior: smoothly browsing continuous
video content — like scrubbing forward
slowly.
When to use: evidence may be in a
neighboring temporal region; exploratory
browsing needed.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28431" y="6126480"/>
            <a:ext cx="3566159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01583" y="6153912"/>
            <a:ext cx="34198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Input: current clip
Output: adjacent temporal segments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6510528"/>
            <a:ext cx="11731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EE"/>
                </a:solidFill>
              </a:rPr>
              <a:t>All tool parameters θ_a are learned by the policy network via RL — no hand-crafted heuristics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树结构推理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Tree-of-Video Reasoning: Structure &amp;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EE"/>
                </a:solidFill>
              </a:rPr>
              <a:t>Breadth-first tree expansion with diversity constraints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749808"/>
            <a:ext cx="5074920" cy="288036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822960"/>
            <a:ext cx="4773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🎯 Problem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170432"/>
            <a:ext cx="477316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Find optimal evidence set E* ⊆ F that:
    max P(y* | q, E, τ)
    s.t. C(E, τ) ≤ C_budget
• y* = ground truth answer
• τ = reasoning trajectory
• C(·) = computational cost
• Exponential search space: |P(F)| = 2^T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3730752"/>
            <a:ext cx="5074920" cy="290779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3803904"/>
            <a:ext cx="4773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🌳 Tree Structure T = (N, E_tree)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4151376"/>
            <a:ext cx="4773168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• Each node n_t = reasoning state
• Edges = tool-augmented transitions
• k parallel trajectories per question
• Max width W per node, max depth D
Diversity constraint (prevents collapse):
  Σ KL[π(·|s_t^i) ‖ π(·|s_t^j)] ≥ β_div
Coarse → fine temporal refinement:
  Δ_coarse (broad) → Δ_fine ≪ Δ_coarse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32120" y="749808"/>
            <a:ext cx="6446520" cy="5888736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822960"/>
            <a:ext cx="6080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166"/>
                </a:solidFill>
              </a:rPr>
              <a:t>BFS Tree Expansion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261872"/>
            <a:ext cx="1874519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1B2A"/>
                </a:solidFill>
              </a:rPr>
              <a:t>Root: Question q
+ Video 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11680"/>
            <a:ext cx="1645920" cy="457200"/>
          </a:xfrm>
          <a:prstGeom prst="rect">
            <a:avLst/>
          </a:prstGeom>
          <a:solidFill>
            <a:srgbClr val="008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04825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h1: Zoom
[0–5s]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011680"/>
            <a:ext cx="16459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04825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h2: Jump
[8–12s]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2011680"/>
            <a:ext cx="164592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204825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h3: Slide
fwd 5s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2971800"/>
            <a:ext cx="1051560" cy="457200"/>
          </a:xfrm>
          <a:prstGeom prst="rect">
            <a:avLst/>
          </a:prstGeom>
          <a:solidFill>
            <a:srgbClr val="008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06440" y="3008376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Zoom
[1–3s]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2971800"/>
            <a:ext cx="1051560" cy="4572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008376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✓ Ans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2971800"/>
            <a:ext cx="105156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008376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Jump
[10s]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32520" y="2971800"/>
            <a:ext cx="105156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3008376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Zoom
[9s]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2971800"/>
            <a:ext cx="105156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3008376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Slide
+5s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07040" y="2971800"/>
            <a:ext cx="1051560" cy="4572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52760" y="3008376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✓ Ans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35661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EE"/>
                </a:solidFill>
              </a:rPr>
              <a:t>▲ Each tool call spawns child nodes (BFS)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3913632"/>
            <a:ext cx="6291072" cy="254203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0" y="3986784"/>
            <a:ext cx="5989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Why Tree &gt; Chain?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87568" y="4334256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✅ Parallel exploration avoids getting trapped in wrong region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87568" y="4700016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✅ Early stopping when any branch finds answer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87568" y="5065776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✅ Diversity constraint prevents all branches collapsing to same path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87568" y="5431536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✅ Hierarchical coarse→fine reduces redundant frame processing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87568" y="5797296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✅ End-to-end trainable (chain methods often are not)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训练策略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Training: Two-Stage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EE"/>
                </a:solidFill>
              </a:rPr>
              <a:t>Stage 1: SFT Warmup  →  Stage 2: ToT-RPO (Tree-of-Tool Relative Policy Optimization)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749808"/>
            <a:ext cx="5669280" cy="585216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749808"/>
            <a:ext cx="566928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804672"/>
            <a:ext cx="5376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Stage 1  ·  SFT Warmup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207008"/>
            <a:ext cx="54406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Goal: Unlock the model's ability to reason with
tool use based on external execution feedback.
Data Collection:
  • Generate multi-round multimodal reasoning data
    using Gemini 2.5-Pro API
  • Filter: keep only traces with correct answers
  • Build SFT dataset D
Objective (negative log-likelihood):
  L_SFT = -E_{(q,r,A_tool,F)~D}
           [ Σ_t log π(r_t, A_tool | q, r_&lt;t, F_&lt;t) ]
What it learns:
  • How to format tool calls
  • How to reason step-by-step with feedback
  • Basic temporal hypothesis generation
⚠ Limitation: SFT can only imitate — cannot
  optimize long-term decisions or balance
  exploration vs. efficiency.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08192" y="749808"/>
            <a:ext cx="5879592" cy="585216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08192" y="749808"/>
            <a:ext cx="5879592" cy="36576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804672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Stage 2  ·  ToT-RPO (extends GRPO)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207008"/>
            <a:ext cx="566928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Goal: Learn to balance exploration / exploitation
across full tree trajectories.
Key Extensions over GRPO:
  • Sample ENTIRE TREE per video-query pair
  • Optimize composite reward over all branches
  • Hierarchical advantage estimation
Optimization Objective:
  L_ToT-RPO = -E_π [ Σ_k A_group(τ) log π(a_k|s_k)
                      - β·KL(π ‖ π_ref) ]
  A_group(τ) = E(τ) · clip(π/π_old, 1-ε, 1+ε)
Combined Advantage:
  E(τ_i,j) = ΔR_branch(τ_i,j) + κ_j · ΔR_tree(T_j)
  ΔR_branch: normalized branch-level reward
  ΔR_tree: normalized tree-level reward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奖励设计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Reward Design: Hierarchical Reward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EE"/>
                </a:solidFill>
              </a:rPr>
              <a:t>Branch-level rewards + Tree-level rewards → stable, efficient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749808"/>
            <a:ext cx="5669280" cy="30175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749808"/>
            <a:ext cx="56692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804672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Branch-Trajectory Reward  R_branch(τ_i)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188720"/>
            <a:ext cx="54406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Jointly captures correctness + search efficiency:
         ┌  +1/|τ_i|    if ŷ_i = y*  (correct, short = better)
R_branch = ┤   0          if branch terminates early
         └  −|τ_i|      if ŷ_i ≠ y*  (wrong, long = worse)
• |τ_i| = number of nodes in the branch
• Encourages finding correct answers with minimal depth
• Heavily penalizes long incorrect exploration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" y="3858768"/>
            <a:ext cx="5669280" cy="27614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8" y="3858768"/>
            <a:ext cx="5669280" cy="3474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3913632"/>
            <a:ext cx="5376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Tree-Level Reward  R_tree(T_j)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297680"/>
            <a:ext cx="544068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Evaluates GLOBAL reasoning tree quality across 3 aspects:
  1. Diversity: avg branch dissimilarity
     → encourages exploration of distinct hypotheses
  2. Performance: success rate of correct branches
     → rewards trees with more correct paths
  3. Efficiency: depth of the reasoning tree
     → rewards shallow (fast) solutions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749808"/>
            <a:ext cx="5879592" cy="5870448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82296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Why Hierarchical Rewards?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1188720"/>
            <a:ext cx="749808" cy="82296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1298448"/>
            <a:ext cx="731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2592" y="1261872"/>
            <a:ext cx="4828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Tree rollouts ≠ linear trajectories; standard
PPO/GRPO only evaluates single path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2231136"/>
            <a:ext cx="74980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2340864"/>
            <a:ext cx="731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Branch
Reward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2304288"/>
            <a:ext cx="4828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Provides dense, per-branch signal;
preserves credit assignment in tree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3273552"/>
            <a:ext cx="749808" cy="8229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8776" y="3383280"/>
            <a:ext cx="731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Tree
Reward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3346704"/>
            <a:ext cx="4828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Global quality signal: prevents degenerate trees
(all branches same path = no diversity)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9632" y="4315968"/>
            <a:ext cx="749808" cy="82296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08776" y="4425696"/>
            <a:ext cx="731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Combined
Advantage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4389120"/>
            <a:ext cx="4828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E(τ_i,j) = ΔR_branch + κ_j·ΔR_tree
Both normalized for training stability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5358383"/>
            <a:ext cx="749808" cy="82296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08776" y="5468112"/>
            <a:ext cx="731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5431536"/>
            <a:ext cx="48280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Model learns WHEN to explore broadly,
WHEN to commit to a promising branch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实验设置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Experimental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EE"/>
                </a:solidFill>
              </a:rPr>
              <a:t>3 model families · 6 benchmarks · comprehensive ablations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749808"/>
            <a:ext cx="5303520" cy="29260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749808"/>
            <a:ext cx="53035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8046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🤖 Model Families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170432"/>
            <a:ext cx="51023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CCDDEE"/>
                </a:solidFill>
              </a:rPr>
              <a:t>Each tested at: IO baseline | Chain Tool-Call | TreeReasoner
With and without SFT+RL training (★)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5074920" cy="512064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691640"/>
            <a:ext cx="91440" cy="512064"/>
          </a:xfrm>
          <a:prstGeom prst="rect">
            <a:avLst/>
          </a:prstGeom>
          <a:solidFill>
            <a:srgbClr val="008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373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BB0"/>
                </a:solidFill>
              </a:rPr>
              <a:t>MiMo-VL 7B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1737360"/>
            <a:ext cx="2724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MiMo-VL series (7B scale)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1720"/>
            <a:ext cx="5074920" cy="512064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31720"/>
            <a:ext cx="91440" cy="5120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377439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Qwen3-VL 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2377439"/>
            <a:ext cx="2724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Qwen3-VL series (8B scale)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71800"/>
            <a:ext cx="5074920" cy="512064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971800"/>
            <a:ext cx="91440" cy="5120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175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B6"/>
                </a:solidFill>
              </a:rPr>
              <a:t>Qwen2.5-VL 32B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3017520"/>
            <a:ext cx="2724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Qwen2.5-VL series (32B scale)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474720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</a:rPr>
              <a:t>Also compared vs: GPT-4o, Gemini2.5-Flash-Lite, Qwen2.5-VL-72B, Llama3.2-11B, Gemma3-12B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42432" y="749808"/>
            <a:ext cx="6245352" cy="292608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42432" y="749808"/>
            <a:ext cx="6245352" cy="347472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8736" y="804672"/>
            <a:ext cx="5971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📊 6 Benchmarks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33872" y="1170432"/>
            <a:ext cx="6053328" cy="438912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33872" y="1170432"/>
            <a:ext cx="73152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98464" y="12344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VideoMME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1234440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General video understanding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84864" y="1261872"/>
            <a:ext cx="73152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530584" y="1289304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General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33872" y="1700784"/>
            <a:ext cx="6053328" cy="438912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33872" y="1700784"/>
            <a:ext cx="73152" cy="438912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98464" y="17647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7E"/>
                </a:solidFill>
              </a:rPr>
              <a:t>LongVideoBench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1764792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Long-video understanding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84864" y="1792224"/>
            <a:ext cx="731520" cy="256032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530584" y="1819656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Long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33872" y="2231136"/>
            <a:ext cx="6053328" cy="438912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33872" y="2231136"/>
            <a:ext cx="73152" cy="438912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8464" y="229514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7E"/>
                </a:solidFill>
              </a:rPr>
              <a:t>EgoSchema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2295144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Egocentric long-video QA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84864" y="2322576"/>
            <a:ext cx="731520" cy="256032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530584" y="235000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Long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33872" y="2761487"/>
            <a:ext cx="6053328" cy="438912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833872" y="2761487"/>
            <a:ext cx="73152" cy="438912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98464" y="2825495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C67E"/>
                </a:solidFill>
              </a:rPr>
              <a:t>MLVU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2825495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Multi-task long video evaluation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84864" y="2852927"/>
            <a:ext cx="731520" cy="256032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530584" y="2880359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Long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33872" y="3291839"/>
            <a:ext cx="6053328" cy="438912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833872" y="3291839"/>
            <a:ext cx="73152" cy="43891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98464" y="3355847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VSIBench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47888" y="3355847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Video-scene spatial intelligence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484864" y="3383279"/>
            <a:ext cx="731520" cy="2560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530584" y="3410711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Reasoning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33872" y="3822191"/>
            <a:ext cx="6053328" cy="438912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833872" y="3822191"/>
            <a:ext cx="73152" cy="43891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98464" y="38862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166"/>
                </a:solidFill>
              </a:rPr>
              <a:t>TOMATO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47888" y="3886200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Temporal reasoning over videos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484864" y="3913631"/>
            <a:ext cx="731520" cy="2560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530584" y="3941063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Reasoning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1168" y="3767328"/>
            <a:ext cx="11786616" cy="2852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01168" y="3767328"/>
            <a:ext cx="11786616" cy="347472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7472" y="3822191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⚙️ Training &amp; Inference Details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2608" y="4224528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</a:rPr>
              <a:t>SFT Data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2608" y="4517136"/>
            <a:ext cx="285292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Multi-round multimodal traces distilled from Gemini 2.5-Pro;
filtered to correct answers only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36976" y="4224528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</a:rPr>
              <a:t>RL Algorithm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36976" y="4517136"/>
            <a:ext cx="285292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ToT-RPO (extends GRPO to tree rollouts);
composite reward: accuracy + efficiency + diversity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81344" y="4224528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</a:rPr>
              <a:t>Baselines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81344" y="4517136"/>
            <a:ext cx="285292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IO (direct inference) · Chain Tool-Call (fixed # calls) · TreeReasoner
All trained identically, only inference paradigm differs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25712" y="4224528"/>
            <a:ext cx="2788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166"/>
                </a:solidFill>
              </a:rPr>
              <a:t>Efficiency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25712" y="4517136"/>
            <a:ext cx="285292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DEE"/>
                </a:solidFill>
              </a:rPr>
              <a:t>TreeReasoner: 36.2k input / 13.6k output tokens on LVB
Naive Tool-Call: 49k input / 13.2k output tokens (35% more input)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实验结果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Main Results: Performance on 6 Benchmarks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EE"/>
                </a:solidFill>
              </a:rPr>
              <a:t>TreeReasoner consistently outperforms IO and chain tool-call baselines across all models and datasets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" y="749808"/>
            <a:ext cx="192024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" y="804671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749808"/>
            <a:ext cx="1481328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804671"/>
            <a:ext cx="13898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6160" y="749808"/>
            <a:ext cx="1078992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804671"/>
            <a:ext cx="9875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VideoMME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72584" y="749808"/>
            <a:ext cx="1078992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4" y="804671"/>
            <a:ext cx="9875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LongVideoB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79008" y="749808"/>
            <a:ext cx="1078992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4728" y="804671"/>
            <a:ext cx="98755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EgoSchema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85432" y="749808"/>
            <a:ext cx="91440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804671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MLVU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27264" y="749808"/>
            <a:ext cx="987552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4" y="804671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VSIBench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42248" y="749808"/>
            <a:ext cx="91440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7968" y="804671"/>
            <a:ext cx="822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TOMATO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749808"/>
            <a:ext cx="77724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804671"/>
            <a:ext cx="685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B2A"/>
                </a:solidFill>
              </a:rPr>
              <a:t>Avg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" y="1115568"/>
            <a:ext cx="1920240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" y="1152144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GPT-4o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400" y="1115568"/>
            <a:ext cx="1481328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93976" y="1152144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1115568"/>
            <a:ext cx="1078992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2736" y="1152144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71.9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72584" y="1115568"/>
            <a:ext cx="1078992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1152144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66.7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79008" y="1115568"/>
            <a:ext cx="1078992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15584" y="1152144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72.2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85432" y="1115568"/>
            <a:ext cx="914400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22008" y="1152144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64.6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27264" y="1115568"/>
            <a:ext cx="987552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1152144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34.0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42248" y="1115568"/>
            <a:ext cx="914400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78824" y="1152144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37.7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84080" y="1115568"/>
            <a:ext cx="777240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20655" y="1152144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57.9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" y="1362456"/>
            <a:ext cx="1920240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6304" y="1399032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Gemini2.5-F-Lite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1362456"/>
            <a:ext cx="1481328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93976" y="1399032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IO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66160" y="1362456"/>
            <a:ext cx="1078992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02736" y="1399032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65.0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72584" y="1362456"/>
            <a:ext cx="1078992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09160" y="1399032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60.2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79008" y="1362456"/>
            <a:ext cx="1078992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15584" y="1399032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85432" y="1362456"/>
            <a:ext cx="914400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22008" y="1399032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69.3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27264" y="1362456"/>
            <a:ext cx="987552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63840" y="1399032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27.0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42248" y="1362456"/>
            <a:ext cx="914400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78824" y="1399032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784080" y="1362456"/>
            <a:ext cx="777240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20655" y="1399032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728" y="1609344"/>
            <a:ext cx="1920240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6304" y="1645920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Qwen2.5-VL-72B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57400" y="1609344"/>
            <a:ext cx="1481328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93976" y="1645920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IO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66160" y="1609344"/>
            <a:ext cx="1078992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02736" y="1645920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73.3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72584" y="1609344"/>
            <a:ext cx="1078992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09160" y="1645920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60.7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779008" y="1609344"/>
            <a:ext cx="1078992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15584" y="1645920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76.2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85432" y="1609344"/>
            <a:ext cx="914400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22008" y="1645920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74.6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27264" y="1609344"/>
            <a:ext cx="987552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63840" y="1645920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37.2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42248" y="1609344"/>
            <a:ext cx="914400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78824" y="1645920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31.2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784080" y="1609344"/>
            <a:ext cx="777240" cy="22860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820655" y="1645920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58.9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9728" y="1856232"/>
            <a:ext cx="1920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6304" y="1892808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MiMo-VL 7B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57400" y="1856232"/>
            <a:ext cx="1481328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93976" y="1892808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IO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566160" y="1856232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02736" y="1892808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70.3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672584" y="1856232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709160" y="1892808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60.4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779008" y="1856232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15584" y="1892808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67.4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885432" y="1856232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22008" y="1892808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71.3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827264" y="1856232"/>
            <a:ext cx="98755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863840" y="1892808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40.8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842248" y="1856232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878824" y="1892808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36.1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784080" y="1856232"/>
            <a:ext cx="777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820655" y="1892808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57.7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9728" y="2103120"/>
            <a:ext cx="1920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46304" y="2139696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99" name="Rectangle 98"/>
          <p:cNvSpPr/>
          <p:nvPr/>
        </p:nvSpPr>
        <p:spPr>
          <a:xfrm>
            <a:off x="2057400" y="2103120"/>
            <a:ext cx="1481328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093976" y="2139696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Tool-call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566160" y="2103120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02736" y="2139696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72.3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72584" y="2103120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09160" y="2139696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63.1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779008" y="2103120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815584" y="2139696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69.2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885432" y="2103120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922008" y="2139696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74.1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827264" y="2103120"/>
            <a:ext cx="98755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863840" y="2139696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45.1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842248" y="2103120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878824" y="2139696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38.4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784080" y="2103120"/>
            <a:ext cx="777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820655" y="2139696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60.4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9728" y="2350008"/>
            <a:ext cx="1920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46304" y="2386584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7" name="Rectangle 116"/>
          <p:cNvSpPr/>
          <p:nvPr/>
        </p:nvSpPr>
        <p:spPr>
          <a:xfrm>
            <a:off x="2057400" y="2350008"/>
            <a:ext cx="1481328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093976" y="2386584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TreeReasoner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66160" y="2350008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602736" y="2386584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73.2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72584" y="2350008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709160" y="2386584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63.3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779008" y="2350008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815584" y="2386584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69.6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885432" y="2350008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922008" y="2386584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77.1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827264" y="2350008"/>
            <a:ext cx="98755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863840" y="2386584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46.7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842248" y="2350008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878824" y="2386584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38.5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784080" y="2350008"/>
            <a:ext cx="777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820655" y="2386584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61.4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9728" y="2596896"/>
            <a:ext cx="1920240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46304" y="2633472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★MiMo 7B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057400" y="2596896"/>
            <a:ext cx="1481328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093976" y="2633472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Tool-call★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566160" y="2596896"/>
            <a:ext cx="1078992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602736" y="2633472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75.1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672584" y="2596896"/>
            <a:ext cx="1078992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709160" y="2633472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65.2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779008" y="2596896"/>
            <a:ext cx="1078992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815584" y="2633472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71.0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885432" y="2596896"/>
            <a:ext cx="914400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922008" y="2633472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78.2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827264" y="2596896"/>
            <a:ext cx="987552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863840" y="2633472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47.8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842248" y="2596896"/>
            <a:ext cx="914400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878824" y="2633472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40.3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784080" y="2596896"/>
            <a:ext cx="777240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820655" y="2633472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008BB0"/>
                </a:solidFill>
              </a:rPr>
              <a:t>62.9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9728" y="2843784"/>
            <a:ext cx="1920240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6304" y="2880360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2057400" y="2843784"/>
            <a:ext cx="1481328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093976" y="2880360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TreeReasoner★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566160" y="2843784"/>
            <a:ext cx="1078992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602736" y="2880360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75.9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672584" y="2843784"/>
            <a:ext cx="1078992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709160" y="2880360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67.8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779008" y="2843784"/>
            <a:ext cx="1078992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815584" y="2880360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73.7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885432" y="2843784"/>
            <a:ext cx="914400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922008" y="2880360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81.8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827264" y="2843784"/>
            <a:ext cx="987552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863840" y="2880360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49.6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842248" y="2843784"/>
            <a:ext cx="914400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878824" y="2880360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41.5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9784080" y="2843784"/>
            <a:ext cx="777240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9820655" y="2880360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65.0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9728" y="3090672"/>
            <a:ext cx="1920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46304" y="3127248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Qwen3-VL 8B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057400" y="3090672"/>
            <a:ext cx="1481328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2093976" y="3127248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IO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3566160" y="3090672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602736" y="3127248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71.4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672584" y="3090672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4709160" y="3127248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58.4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779008" y="3090672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815584" y="3127248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73.2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6885432" y="3090672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922008" y="3127248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78.1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827264" y="3090672"/>
            <a:ext cx="98755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863840" y="3127248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59.4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842248" y="3090672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878824" y="3127248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34.9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9784080" y="3090672"/>
            <a:ext cx="777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820655" y="3127248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62.5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9728" y="3337560"/>
            <a:ext cx="1920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46304" y="3374136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89" name="Rectangle 188"/>
          <p:cNvSpPr/>
          <p:nvPr/>
        </p:nvSpPr>
        <p:spPr>
          <a:xfrm>
            <a:off x="2057400" y="3337560"/>
            <a:ext cx="1481328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093976" y="3374136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Tool-call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3566160" y="3337560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602736" y="3374136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73.3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672584" y="3337560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709160" y="3374136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61.5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779008" y="3337560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815584" y="3374136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75.6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885432" y="3337560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922008" y="3374136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80.8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827264" y="3337560"/>
            <a:ext cx="98755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863840" y="3374136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61.8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842248" y="3337560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8878824" y="3374136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37.3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784080" y="3337560"/>
            <a:ext cx="777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9820655" y="3374136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65.1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09728" y="3584448"/>
            <a:ext cx="1920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46304" y="3621024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7" name="Rectangle 206"/>
          <p:cNvSpPr/>
          <p:nvPr/>
        </p:nvSpPr>
        <p:spPr>
          <a:xfrm>
            <a:off x="2057400" y="3584448"/>
            <a:ext cx="1481328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2093976" y="3621024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TreeReasoner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566160" y="3584448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3602736" y="3621024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73.7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672584" y="3584448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709160" y="3621024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62.2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779008" y="3584448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815584" y="3621024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76.4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885432" y="3584448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922008" y="3621024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81.5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827264" y="3584448"/>
            <a:ext cx="98755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7863840" y="3621024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62.6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842248" y="3584448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878824" y="3621024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37.8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9784080" y="3584448"/>
            <a:ext cx="777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9820655" y="3621024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65.7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09728" y="3831336"/>
            <a:ext cx="1920240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46304" y="3867912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★Qwen3 8B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057400" y="3831336"/>
            <a:ext cx="1481328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2093976" y="3867912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Tool-call★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3566160" y="3831336"/>
            <a:ext cx="1078992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3602736" y="3867912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76.2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4672584" y="3831336"/>
            <a:ext cx="1078992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4709160" y="3867912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64.8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779008" y="3831336"/>
            <a:ext cx="1078992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5815584" y="3867912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77.8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6885432" y="3831336"/>
            <a:ext cx="914400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6922008" y="3867912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84.3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7827264" y="3831336"/>
            <a:ext cx="987552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7863840" y="3867912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63.1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8842248" y="3831336"/>
            <a:ext cx="914400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8878824" y="3867912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40.5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9784080" y="3831336"/>
            <a:ext cx="777240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9820655" y="3867912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27AE60"/>
                </a:solidFill>
              </a:rPr>
              <a:t>67.8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09728" y="4078224"/>
            <a:ext cx="1920240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46304" y="4114800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43" name="Rectangle 242"/>
          <p:cNvSpPr/>
          <p:nvPr/>
        </p:nvSpPr>
        <p:spPr>
          <a:xfrm>
            <a:off x="2057400" y="4078224"/>
            <a:ext cx="1481328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2093976" y="4114800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TreeReasoner★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3566160" y="4078224"/>
            <a:ext cx="1078992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602736" y="4114800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77.2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4672584" y="4078224"/>
            <a:ext cx="1078992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4709160" y="4114800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65.9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5779008" y="4078224"/>
            <a:ext cx="1078992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5815584" y="4114800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80.0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6885432" y="4078224"/>
            <a:ext cx="914400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6922008" y="4114800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85.5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7827264" y="4078224"/>
            <a:ext cx="987552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7863840" y="4114800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64.6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8842248" y="4078224"/>
            <a:ext cx="914400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878824" y="4114800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41.5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9784080" y="4078224"/>
            <a:ext cx="777240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9820655" y="4114800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69.1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09728" y="4325112"/>
            <a:ext cx="1920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46304" y="4361688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Qwen2.5-VL 32B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2057400" y="4325112"/>
            <a:ext cx="1481328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2093976" y="4361688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IO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3566160" y="4325112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3602736" y="4361688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70.4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4672584" y="4325112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4709160" y="4361688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57.8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5779008" y="4325112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5815584" y="4361688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69.2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6885432" y="4325112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6922008" y="4361688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71.3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7827264" y="4325112"/>
            <a:ext cx="98755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7863840" y="4361688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37.1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8842248" y="4325112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8878824" y="4361688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29.8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9784080" y="4325112"/>
            <a:ext cx="777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9820655" y="4361688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55.9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109728" y="4572000"/>
            <a:ext cx="1920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46304" y="4608576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79" name="Rectangle 278"/>
          <p:cNvSpPr/>
          <p:nvPr/>
        </p:nvSpPr>
        <p:spPr>
          <a:xfrm>
            <a:off x="2057400" y="4572000"/>
            <a:ext cx="1481328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2093976" y="4608576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Tool-call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3566160" y="4572000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3602736" y="4608576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72.3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4672584" y="4572000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4709160" y="4608576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59.1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5779008" y="4572000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5815584" y="4608576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71.8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6885432" y="4572000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6922008" y="4608576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75.4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7827264" y="4572000"/>
            <a:ext cx="98755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7863840" y="4608576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43.7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8842248" y="4572000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8878824" y="4608576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31.5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9784080" y="4572000"/>
            <a:ext cx="777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9820655" y="4608576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59.0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09728" y="4818888"/>
            <a:ext cx="1920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146304" y="4855464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97" name="Rectangle 296"/>
          <p:cNvSpPr/>
          <p:nvPr/>
        </p:nvSpPr>
        <p:spPr>
          <a:xfrm>
            <a:off x="2057400" y="4818888"/>
            <a:ext cx="1481328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2093976" y="4855464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TreeReasoner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3566160" y="4818888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3602736" y="4855464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72.5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4672584" y="4818888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4709160" y="4855464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60.2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5779008" y="4818888"/>
            <a:ext cx="107899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5815584" y="4855464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73.0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6885432" y="4818888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6922008" y="4855464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76.4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7827264" y="4818888"/>
            <a:ext cx="987552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7863840" y="4855464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44.7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8842248" y="4818888"/>
            <a:ext cx="91440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8878824" y="4855464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33.2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9784080" y="4818888"/>
            <a:ext cx="777240" cy="22860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9820655" y="4855464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60.0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109728" y="5065776"/>
            <a:ext cx="1920240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46304" y="5102352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★Qwen2.5-32B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2057400" y="5065776"/>
            <a:ext cx="1481328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2093976" y="5102352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Tool-call★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3566160" y="5065776"/>
            <a:ext cx="1078992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3602736" y="5102352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74.8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4672584" y="5065776"/>
            <a:ext cx="1078992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4709160" y="5102352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62.1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5779008" y="5065776"/>
            <a:ext cx="1078992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5815584" y="5102352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74.6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6885432" y="5065776"/>
            <a:ext cx="914400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6922008" y="5102352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79.8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7827264" y="5065776"/>
            <a:ext cx="987552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7863840" y="5102352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46.1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8842248" y="5065776"/>
            <a:ext cx="914400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8878824" y="5102352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35.2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9784080" y="5065776"/>
            <a:ext cx="777240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9820655" y="5102352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B59B6"/>
                </a:solidFill>
              </a:rPr>
              <a:t>62.1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09728" y="5312664"/>
            <a:ext cx="1920240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146304" y="5349240"/>
            <a:ext cx="1847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33" name="Rectangle 332"/>
          <p:cNvSpPr/>
          <p:nvPr/>
        </p:nvSpPr>
        <p:spPr>
          <a:xfrm>
            <a:off x="2057400" y="5312664"/>
            <a:ext cx="1481328" cy="228600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2093976" y="5349240"/>
            <a:ext cx="140817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</a:rPr>
              <a:t>TreeReasoner★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3566160" y="5312664"/>
            <a:ext cx="1078992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3602736" y="5349240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76.4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4672584" y="5312664"/>
            <a:ext cx="1078992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4709160" y="5349240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62.9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5779008" y="5312664"/>
            <a:ext cx="1078992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5815584" y="5349240"/>
            <a:ext cx="10058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77.6</a:t>
            </a:r>
          </a:p>
        </p:txBody>
      </p:sp>
      <p:sp>
        <p:nvSpPr>
          <p:cNvPr id="341" name="Rectangle 340"/>
          <p:cNvSpPr/>
          <p:nvPr/>
        </p:nvSpPr>
        <p:spPr>
          <a:xfrm>
            <a:off x="6885432" y="5312664"/>
            <a:ext cx="914400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6922008" y="5349240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80.4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7827264" y="5312664"/>
            <a:ext cx="987552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7863840" y="5349240"/>
            <a:ext cx="91440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47.6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8842248" y="5312664"/>
            <a:ext cx="914400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8878824" y="5349240"/>
            <a:ext cx="8412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37.5</a:t>
            </a:r>
          </a:p>
        </p:txBody>
      </p:sp>
      <p:sp>
        <p:nvSpPr>
          <p:cNvPr id="347" name="Rectangle 346"/>
          <p:cNvSpPr/>
          <p:nvPr/>
        </p:nvSpPr>
        <p:spPr>
          <a:xfrm>
            <a:off x="9784080" y="5312664"/>
            <a:ext cx="777240" cy="22860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9820655" y="5349240"/>
            <a:ext cx="7040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1B2A"/>
                </a:solidFill>
              </a:rPr>
              <a:t>63.7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37160" y="6583680"/>
            <a:ext cx="11914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6677"/>
                </a:solidFill>
              </a:rPr>
              <a:t>★ = SFT + RL trained  |  Green = TreeReasoner best  |  Best per column in each group is highlighted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889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分析与消融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Analysis: Ablation, Efficiency &amp; Hallucination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DDEE"/>
                </a:solidFill>
              </a:rPr>
              <a:t>Comprehensive ablation confirms each component's contribution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749808"/>
            <a:ext cx="7205472" cy="239572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" y="749808"/>
            <a:ext cx="7205472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786384"/>
            <a:ext cx="6931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Ablation: Training Stages (SFT vs. SFT+RL)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152144"/>
            <a:ext cx="1353312" cy="237744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" y="1170432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CDDEE"/>
                </a:solidFill>
              </a:rPr>
              <a:t>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7632" y="1152144"/>
            <a:ext cx="749808" cy="237744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55064" y="1170432"/>
            <a:ext cx="6949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CDDEE"/>
                </a:solidFill>
              </a:rPr>
              <a:t>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5728" y="1152144"/>
            <a:ext cx="658368" cy="237744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1170432"/>
            <a:ext cx="6035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CDDEE"/>
                </a:solidFill>
              </a:rPr>
              <a:t>VMME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72384" y="1152144"/>
            <a:ext cx="658368" cy="237744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9815" y="1170432"/>
            <a:ext cx="6035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CDDEE"/>
                </a:solidFill>
              </a:rPr>
              <a:t>LVB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1152144"/>
            <a:ext cx="658368" cy="237744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76472" y="1170432"/>
            <a:ext cx="6035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CDDEE"/>
                </a:solidFill>
              </a:rPr>
              <a:t>Ego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25695" y="1152144"/>
            <a:ext cx="658368" cy="237744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7" y="1170432"/>
            <a:ext cx="6035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CDDEE"/>
                </a:solidFill>
              </a:rPr>
              <a:t>MLVU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02351" y="1152144"/>
            <a:ext cx="658368" cy="237744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9783" y="1170432"/>
            <a:ext cx="6035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CDDEE"/>
                </a:solidFill>
              </a:rPr>
              <a:t>VSI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79007" y="1152144"/>
            <a:ext cx="658368" cy="237744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39" y="1170432"/>
            <a:ext cx="6035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CDDEE"/>
                </a:solidFill>
              </a:rPr>
              <a:t>TOM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55663" y="1152144"/>
            <a:ext cx="658368" cy="237744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3095" y="1170432"/>
            <a:ext cx="60350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CCDDEE"/>
                </a:solidFill>
              </a:rPr>
              <a:t>Avg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1417320"/>
            <a:ext cx="1353312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" y="1453896"/>
            <a:ext cx="12984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MiMo-VL 7B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27632" y="1417320"/>
            <a:ext cx="74980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55064" y="1453896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SFT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95728" y="1417320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3160" y="1453896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73.9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72384" y="1417320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99815" y="1453896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65.6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39" y="1417320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76472" y="1453896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71.6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25695" y="1417320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53127" y="1453896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79.7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02351" y="1417320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9783" y="1453896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47.6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79007" y="1417320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06439" y="1453896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39.6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55663" y="1417320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3095" y="1453896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63.0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" y="1682496"/>
            <a:ext cx="1353312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3464" y="1719072"/>
            <a:ext cx="12984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1627632" y="1682496"/>
            <a:ext cx="74980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55064" y="1719072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SFT+RL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95728" y="1682496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23160" y="1719072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75.9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72384" y="1682496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099815" y="1719072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67.8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749039" y="1682496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76472" y="1719072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73.7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25695" y="1682496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53127" y="1719072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81.8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02351" y="1682496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29783" y="1719072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49.6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79007" y="1682496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06439" y="1719072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41.5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55663" y="1682496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83095" y="1719072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65.0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" y="1947672"/>
            <a:ext cx="1353312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3464" y="1984248"/>
            <a:ext cx="12984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Qwen3-VL 8B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27632" y="1947672"/>
            <a:ext cx="74980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55064" y="1984248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SFT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95728" y="1947672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23160" y="1984248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75.2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72384" y="1947672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99815" y="1984248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63.9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749039" y="1947672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76472" y="1984248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78.2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25695" y="1947672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53127" y="1984248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83.4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02351" y="1947672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129783" y="1984248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63.2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79007" y="1947672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806439" y="1984248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39.4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55663" y="1947672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83095" y="1984248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67.3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6032" y="2212848"/>
            <a:ext cx="1353312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3464" y="2249424"/>
            <a:ext cx="12984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1627632" y="2212848"/>
            <a:ext cx="74980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655064" y="2249424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SFT+RL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395728" y="2212848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423160" y="2249424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77.2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72384" y="2212848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99815" y="2249424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65.9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49039" y="2212848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776472" y="2249424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80.0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425695" y="2212848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453127" y="2249424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85.5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102351" y="2212848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29783" y="2249424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64.6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779007" y="2212848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806439" y="2249424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41.5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455663" y="2212848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483095" y="2249424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69.1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56032" y="2478024"/>
            <a:ext cx="1353312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83464" y="2514600"/>
            <a:ext cx="12984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Qwen2.5 32B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627632" y="2478024"/>
            <a:ext cx="74980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655064" y="2514600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SFT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395728" y="2478024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423160" y="2514600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74.4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072384" y="2478024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099815" y="2514600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61.0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749039" y="2478024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776472" y="2514600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75.4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425695" y="2478024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453127" y="2514600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78.4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102351" y="2478024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129783" y="2514600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45.7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779007" y="2478024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806439" y="2514600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35.6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455663" y="2478024"/>
            <a:ext cx="658368" cy="246888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83095" y="2514600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CCDDEE"/>
                </a:solidFill>
              </a:rPr>
              <a:t>61.8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56032" y="2743200"/>
            <a:ext cx="1353312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83464" y="2779776"/>
            <a:ext cx="1298448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/>
            </a:r>
          </a:p>
        </p:txBody>
      </p:sp>
      <p:sp>
        <p:nvSpPr>
          <p:cNvPr id="120" name="Rectangle 119"/>
          <p:cNvSpPr/>
          <p:nvPr/>
        </p:nvSpPr>
        <p:spPr>
          <a:xfrm>
            <a:off x="1627632" y="2743200"/>
            <a:ext cx="74980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655064" y="2779776"/>
            <a:ext cx="694944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SFT+RL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395728" y="2743200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423160" y="2779776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76.4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072384" y="2743200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099815" y="2779776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62.9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749039" y="2743200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776472" y="2779776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77.6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425695" y="2743200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453127" y="2779776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80.4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102351" y="2743200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129783" y="2779776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47.6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779007" y="2743200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806439" y="2779776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37.5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455663" y="2743200"/>
            <a:ext cx="658368" cy="246888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483095" y="2779776"/>
            <a:ext cx="603503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DC67E"/>
                </a:solidFill>
              </a:rPr>
              <a:t>63.7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56032" y="3054096"/>
            <a:ext cx="7040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DC67E"/>
                </a:solidFill>
              </a:rPr>
              <a:t>→ RL consistently improves over SFT alone across all models &amp; benchmarks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01168" y="3364992"/>
            <a:ext cx="7205472" cy="146304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47472" y="3419856"/>
            <a:ext cx="6931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🔬 Hyperparameter Ablations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20040" y="3703320"/>
            <a:ext cx="6995160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Frame Count per Node: Performance improves until saturation (log₂ scale).
  → Enriching visual diversity enables more comprehensive evidence aggregation.
Max Tree Depth D: Consistent gains up to depth ~3–4, then converges.
  → More depth = more temporal refinement, but diminishing returns.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607808" y="749808"/>
            <a:ext cx="4434840" cy="217627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607808" y="749808"/>
            <a:ext cx="4434840" cy="32918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754112" y="786384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⚡ Efficiency (LongVideoBench)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662672" y="1152144"/>
            <a:ext cx="1938528" cy="237744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699248" y="1170432"/>
            <a:ext cx="1865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CDDEE"/>
                </a:solidFill>
              </a:rPr>
              <a:t>Method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646920" y="1152144"/>
            <a:ext cx="1371600" cy="237744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9683496" y="1170432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CDDEE"/>
                </a:solidFill>
              </a:rPr>
              <a:t>Out/In tokens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1064240" y="1152144"/>
            <a:ext cx="804672" cy="237744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1100816" y="117043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CDDEE"/>
                </a:solidFill>
              </a:rPr>
              <a:t>Acc 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662672" y="1417320"/>
            <a:ext cx="1938528" cy="34747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699248" y="1472184"/>
            <a:ext cx="18653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EE"/>
                </a:solidFill>
              </a:rPr>
              <a:t>IO (best of 6)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646920" y="1417320"/>
            <a:ext cx="1371600" cy="34747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683496" y="1472184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EE"/>
                </a:solidFill>
              </a:rPr>
              <a:t>9.1k / 21.1k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1064240" y="1417320"/>
            <a:ext cx="804672" cy="34747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1100816" y="147218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EE"/>
                </a:solidFill>
              </a:rPr>
              <a:t>63.5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662672" y="1783080"/>
            <a:ext cx="1938528" cy="34747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699248" y="1837944"/>
            <a:ext cx="18653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EE"/>
                </a:solidFill>
              </a:rPr>
              <a:t>Tool-call (best of 6)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646920" y="1783080"/>
            <a:ext cx="1371600" cy="34747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683496" y="1837944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EE"/>
                </a:solidFill>
              </a:rPr>
              <a:t>13.2k / 49k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1064240" y="1783080"/>
            <a:ext cx="804672" cy="34747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1100816" y="183794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DEE"/>
                </a:solidFill>
              </a:rPr>
              <a:t>67.4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662672" y="2148840"/>
            <a:ext cx="1938528" cy="347472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699248" y="2203704"/>
            <a:ext cx="18653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DC67E"/>
                </a:solidFill>
              </a:rPr>
              <a:t>TreeReasoner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646920" y="2148840"/>
            <a:ext cx="1371600" cy="347472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683496" y="2203704"/>
            <a:ext cx="12984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DC67E"/>
                </a:solidFill>
              </a:rPr>
              <a:t>13.6k / 36.2k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1064240" y="2148840"/>
            <a:ext cx="804672" cy="347472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1100816" y="220370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DC67E"/>
                </a:solidFill>
              </a:rPr>
              <a:t>67.8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662672" y="239572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DC67E"/>
                </a:solidFill>
              </a:rPr>
              <a:t>→ 26% fewer input tokens than chain
tool-call, yet higher accuracy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607808" y="3017520"/>
            <a:ext cx="4434840" cy="3639312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607808" y="3017520"/>
            <a:ext cx="4434840" cy="329184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754112" y="3054096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🧠 Hallucination (Hallucer Bench)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726679" y="3438144"/>
            <a:ext cx="42519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Hallucer: paired (Basic, Hallucinated)
questions — point only if BOTH correct.
MiMo-VL 7B:
  IO: 57.6%  →  Tool-call: 58.6%
  TreeReasoner: 60.7%  (+3.1%)
Qwen3-VL 8B:
  IO: 78.2%  →  Tool-call: 81.2%
  TreeReasoner: 83.0%  (+4.8%)
→ Tree-structured verification reduces
  hallucination by grounding each
  reasoning step in retrieved frames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Conclusion &amp; Takeaways  ·  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94944"/>
            <a:ext cx="112745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822960"/>
            <a:ext cx="11786616" cy="566928"/>
          </a:xfrm>
          <a:prstGeom prst="rect">
            <a:avLst/>
          </a:prstGeom>
          <a:solidFill>
            <a:srgbClr val="1C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877824"/>
            <a:ext cx="11475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TreeReasoner recasts long-video understanding as an ACTIVE SEARCH problem: parallel tree-structured exploration of temporal hypotheses, guided by frame-level tools, trained end-to-end via ToT-RPO.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536192"/>
            <a:ext cx="3749039" cy="21031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" y="1536192"/>
            <a:ext cx="54864" cy="2103120"/>
          </a:xfrm>
          <a:prstGeom prst="rect">
            <a:avLst/>
          </a:prstGeom>
          <a:solidFill>
            <a:srgbClr val="008B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645919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B0"/>
                </a:solidFill>
              </a:rPr>
              <a:t>🌳  Tree &gt;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993391"/>
            <a:ext cx="347472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Parallel breadth-first hypothesis exploration avoids getting trapped in wrong temporal regions. Early stopping when any branch succeeds. Diversity constraint prevents collapse.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78223" y="1536192"/>
            <a:ext cx="3749039" cy="21031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78223" y="1536192"/>
            <a:ext cx="54864" cy="2103120"/>
          </a:xfrm>
          <a:prstGeom prst="rect">
            <a:avLst/>
          </a:prstGeom>
          <a:solidFill>
            <a:srgbClr val="148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7" y="1645919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487A3"/>
                </a:solidFill>
              </a:rPr>
              <a:t>🔧  Tool Design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7" y="1993391"/>
            <a:ext cx="347472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3 tools (Zoom/Jump/Slide) mirror natural human video-watching. Learned tool parameters via RL outperform hand-crafted strategies. Active verification &gt; passive prediction.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536192"/>
            <a:ext cx="3749039" cy="21031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536192"/>
            <a:ext cx="54864" cy="2103120"/>
          </a:xfrm>
          <a:prstGeom prst="rect">
            <a:avLst/>
          </a:prstGeom>
          <a:solidFill>
            <a:srgbClr val="2DC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1583" y="1645919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7E"/>
                </a:solidFill>
              </a:rPr>
              <a:t>📐  ToT-RPO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1993391"/>
            <a:ext cx="347472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Two-stage (SFT→RL) is critical. RL consistently adds ~2% over SFT alone. Hierarchical rewards (branch + tree level) enable stable training over structured rollouts.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" y="3803904"/>
            <a:ext cx="3749039" cy="21031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1168" y="3803904"/>
            <a:ext cx="54864" cy="21031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9136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⚡  Efficiency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4261104"/>
            <a:ext cx="347472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26% fewer input tokens than naive chain tool-call while achieving HIGHER accuracy. Tree's early stopping eliminates redundant frame processing.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78223" y="3803904"/>
            <a:ext cx="3749039" cy="21031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78223" y="3803904"/>
            <a:ext cx="54864" cy="21031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7" y="39136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33"/>
                </a:solidFill>
              </a:rPr>
              <a:t>🧠  Generalization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7" y="4261104"/>
            <a:ext cx="347472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Lower hallucination rates (up to +4.8%) — tree-structured grounding reduces model drift. Emergent behaviors: temporal bracketing, causal chain verification.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3803904"/>
            <a:ext cx="3749039" cy="2103120"/>
          </a:xfrm>
          <a:prstGeom prst="rect">
            <a:avLst/>
          </a:prstGeom>
          <a:solidFill>
            <a:srgbClr val="16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3803904"/>
            <a:ext cx="54864" cy="210312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1583" y="39136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C5C"/>
                </a:solidFill>
              </a:rPr>
              <a:t>📊  SOTA 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1583" y="4261104"/>
            <a:ext cx="347472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</a:rPr>
              <a:t>+7.3% over IO baseline, +2.1% over chain tool-call (MiMo-VL 7B). Best: Qwen2.5-VL 32B + TreeReasoner★ achieves 69.1% avg over 6 benchmarks.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6144768"/>
            <a:ext cx="117317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77"/>
                </a:solidFill>
              </a:rPr>
              <a:t>Limitations: tree expansion increases inference latency; ToT-RPO training requires tree rollouts (higher compute vs. GRPO). Future: dynamic width/depth scheduling, cross-modal tree reasoning.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